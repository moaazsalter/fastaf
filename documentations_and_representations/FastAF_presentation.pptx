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3" r:id="rId9"/>
    <p:sldId id="267" r:id="rId10"/>
    <p:sldId id="268" r:id="rId11"/>
    <p:sldId id="269" r:id="rId12"/>
    <p:sldId id="270" r:id="rId13"/>
    <p:sldId id="271" r:id="rId14"/>
    <p:sldId id="277" r:id="rId15"/>
    <p:sldId id="272" r:id="rId16"/>
    <p:sldId id="273" r:id="rId17"/>
    <p:sldId id="274" r:id="rId18"/>
    <p:sldId id="275" r:id="rId19"/>
    <p:sldId id="276" r:id="rId20"/>
    <p:sldId id="280" r:id="rId21"/>
    <p:sldId id="283" r:id="rId22"/>
    <p:sldId id="282" r:id="rId23"/>
    <p:sldId id="281" r:id="rId24"/>
    <p:sldId id="284" r:id="rId25"/>
    <p:sldId id="285" r:id="rId26"/>
    <p:sldId id="286" r:id="rId27"/>
    <p:sldId id="287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D5C6"/>
    <a:srgbClr val="1F392D"/>
    <a:srgbClr val="AAE4CA"/>
    <a:srgbClr val="3EC186"/>
    <a:srgbClr val="2B4F3F"/>
    <a:srgbClr val="3EC19B"/>
    <a:srgbClr val="3EC1AC"/>
    <a:srgbClr val="40745C"/>
    <a:srgbClr val="4E8C70"/>
    <a:srgbClr val="3EAA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AFB2D-5990-4CF9-86A1-E6B6C4B36654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9908C-96FC-4BB3-BD08-6445B8476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4FC0-B325-1CA3-975D-651527B45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89F6B-8A7F-EE4C-8014-F8B0D68CF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8005F-50EA-15F8-63DC-51117AA5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B3DC3-E7E5-EA1C-920D-59FE656C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6EEF0-6658-9BD0-9C7C-643BD74B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7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C0934-4404-4309-7B16-41F5A872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AD97-4269-C83E-A06E-59BC9FD58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F0510-806D-6EF5-C004-3832236B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866EC-7576-5E8C-98CB-B74634E5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23BC-30E2-AB6B-5150-5C9B2E2C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8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9B89-5DE4-A4F7-A38C-EF383194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41860-15B6-F3A9-F627-0508FC09E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F08F-F1F7-526F-E2AA-2097B581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334C4-068B-0264-42E3-F0F395EBE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11E8B-753C-67C2-69B0-0C20E0D6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2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A9F5-9274-ACD7-C814-701AA62D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9EB70-CB62-5C3B-19EC-4AFE8AA02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4B5C2-8615-E5B3-32C5-B36B80DE7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7CD87-1429-B12B-D8D9-E62F841F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B7BCE-7A57-0240-C717-3E3ACD6E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12703-B955-E275-5136-4B4810F7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1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3B70-BCC9-09E4-5AF8-6E34AACA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2AEEE-A600-51CD-B563-D1A5ADEEA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216D0-19D6-ECD5-1BEC-2887B1030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B40CC-8CF0-CDBE-154E-FCBCB443D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B0F94-2356-0148-C9CC-10660A200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9E34A-2B65-823A-153F-D07E2FB0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B6E94-836F-7151-ABF7-9238E5F61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4F767-B673-47A9-BE9A-10499ED2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4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DFAB-5BE9-85D3-8CBC-B1CD2CF4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544B7-83E6-19DC-7B61-C0854B3A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9E08E-891F-0E7B-B0FF-A13C6D41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61184-9AB0-A631-C7D0-0E9C7E343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F2FE8-A529-4CDE-EC9E-BB22F211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82FF10-8CFF-F710-2658-F3E7CE58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9340B-27E8-C379-EC63-C30EFDED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9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50B0D-02C4-6DC2-10BA-C23822D7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0189-16E6-6326-936E-5AEB5E7D6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2136E-C523-D58A-FAF6-FAA0A7C2E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A5B2F-1611-6E49-048A-A97FB3E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2BEA5-346F-CABB-C80D-205A49B0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3D91-8DF2-CF60-5A6E-0C37C68D5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0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634A8-64A7-B0E4-9BB6-B5C78CAB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D0321-924B-BD90-205F-DF1C5D018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0AAF8-F0D1-44CD-8058-F70495F49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B99D8-5CD9-2063-7595-F55F7964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3D3A2-D075-0C94-40AD-37456049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96192-85B0-5DCE-E85C-87CA038F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1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9396-ECCE-BB44-234B-456214AF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09687-7D9A-F677-246A-7DF53488E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20C3B-96BD-B89E-CDAB-4D32D393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606F-9646-AA6E-0F93-17602A7A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34E3A-EB30-125E-9418-4B718C85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8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26025-2663-C18B-9AC8-60D804073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AD9A9-8CBD-06A1-ACE4-8BE39F56B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390A-D86F-2391-4C52-E6E5CAEB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7EAF4-1F7E-B598-84B4-0B5D86C6D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EC239-B4E3-69DF-7031-C8E98424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3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9566F-A692-47CA-B232-8425BCFA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2AFBD-DD6B-E08C-C884-E197D1DF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0B3A-F479-930D-1963-86237551C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AD41C-21E4-4942-ACE5-5580D215007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B65C7-7BE3-4404-7927-A357EB2A2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988CA-266A-BD52-C333-2C234210A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400A4-752E-4242-8695-01CE0F21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3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9B96DA-9086-965A-EBEC-E399F34832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12" r="28962" b="555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5A7DE7D-A970-9F14-E662-992CBE4F87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050881" y="2755702"/>
                </a:moveTo>
                <a:cubicBezTo>
                  <a:pt x="7062508" y="2756019"/>
                  <a:pt x="7071746" y="2761575"/>
                  <a:pt x="7078594" y="2772368"/>
                </a:cubicBezTo>
                <a:cubicBezTo>
                  <a:pt x="7085443" y="2783161"/>
                  <a:pt x="7088947" y="2797287"/>
                  <a:pt x="7089106" y="2814746"/>
                </a:cubicBezTo>
                <a:lnTo>
                  <a:pt x="7089106" y="3098539"/>
                </a:lnTo>
                <a:lnTo>
                  <a:pt x="7016478" y="3098539"/>
                </a:lnTo>
                <a:lnTo>
                  <a:pt x="7016478" y="2814746"/>
                </a:lnTo>
                <a:cubicBezTo>
                  <a:pt x="7016598" y="2797287"/>
                  <a:pt x="7019703" y="2783161"/>
                  <a:pt x="7025796" y="2772368"/>
                </a:cubicBezTo>
                <a:cubicBezTo>
                  <a:pt x="7031888" y="2761575"/>
                  <a:pt x="7040250" y="2756019"/>
                  <a:pt x="7050881" y="2755702"/>
                </a:cubicBezTo>
                <a:close/>
                <a:moveTo>
                  <a:pt x="5107781" y="2755702"/>
                </a:moveTo>
                <a:cubicBezTo>
                  <a:pt x="5119409" y="2756019"/>
                  <a:pt x="5128646" y="2761575"/>
                  <a:pt x="5135494" y="2772368"/>
                </a:cubicBezTo>
                <a:cubicBezTo>
                  <a:pt x="5142343" y="2783161"/>
                  <a:pt x="5145847" y="2797287"/>
                  <a:pt x="5146006" y="2814746"/>
                </a:cubicBezTo>
                <a:lnTo>
                  <a:pt x="5146006" y="3098539"/>
                </a:lnTo>
                <a:lnTo>
                  <a:pt x="5073378" y="3098539"/>
                </a:lnTo>
                <a:lnTo>
                  <a:pt x="5073378" y="2814746"/>
                </a:lnTo>
                <a:cubicBezTo>
                  <a:pt x="5073498" y="2797287"/>
                  <a:pt x="5076603" y="2783161"/>
                  <a:pt x="5082696" y="2772368"/>
                </a:cubicBezTo>
                <a:cubicBezTo>
                  <a:pt x="5088788" y="2761575"/>
                  <a:pt x="5097150" y="2756019"/>
                  <a:pt x="5107781" y="2755702"/>
                </a:cubicBezTo>
                <a:close/>
                <a:moveTo>
                  <a:pt x="6130891" y="2546188"/>
                </a:moveTo>
                <a:lnTo>
                  <a:pt x="6130891" y="2799315"/>
                </a:lnTo>
                <a:lnTo>
                  <a:pt x="6279481" y="2799315"/>
                </a:lnTo>
                <a:lnTo>
                  <a:pt x="6279481" y="3858495"/>
                </a:lnTo>
                <a:lnTo>
                  <a:pt x="6547848" y="3858495"/>
                </a:lnTo>
                <a:lnTo>
                  <a:pt x="6547848" y="2799315"/>
                </a:lnTo>
                <a:lnTo>
                  <a:pt x="6702153" y="2799315"/>
                </a:lnTo>
                <a:lnTo>
                  <a:pt x="6702153" y="2546188"/>
                </a:lnTo>
                <a:close/>
                <a:moveTo>
                  <a:pt x="7727156" y="2511898"/>
                </a:moveTo>
                <a:cubicBezTo>
                  <a:pt x="7628630" y="2512891"/>
                  <a:pt x="7553328" y="2539005"/>
                  <a:pt x="7501249" y="2590241"/>
                </a:cubicBezTo>
                <a:cubicBezTo>
                  <a:pt x="7449170" y="2641478"/>
                  <a:pt x="7422915" y="2711884"/>
                  <a:pt x="7422481" y="2801458"/>
                </a:cubicBezTo>
                <a:lnTo>
                  <a:pt x="7422481" y="3858495"/>
                </a:lnTo>
                <a:lnTo>
                  <a:pt x="7692753" y="3858495"/>
                </a:lnTo>
                <a:lnTo>
                  <a:pt x="7692753" y="3344145"/>
                </a:lnTo>
                <a:lnTo>
                  <a:pt x="7930967" y="3344145"/>
                </a:lnTo>
                <a:lnTo>
                  <a:pt x="7930967" y="3091018"/>
                </a:lnTo>
                <a:lnTo>
                  <a:pt x="7692753" y="3091018"/>
                </a:lnTo>
                <a:lnTo>
                  <a:pt x="7692753" y="2814793"/>
                </a:lnTo>
                <a:cubicBezTo>
                  <a:pt x="7692634" y="2800664"/>
                  <a:pt x="7695262" y="2787488"/>
                  <a:pt x="7700637" y="2775264"/>
                </a:cubicBezTo>
                <a:cubicBezTo>
                  <a:pt x="7706013" y="2763041"/>
                  <a:pt x="7714852" y="2756532"/>
                  <a:pt x="7727156" y="2755738"/>
                </a:cubicBezTo>
                <a:cubicBezTo>
                  <a:pt x="7740455" y="2756056"/>
                  <a:pt x="7750171" y="2761612"/>
                  <a:pt x="7756303" y="2772407"/>
                </a:cubicBezTo>
                <a:cubicBezTo>
                  <a:pt x="7762435" y="2783202"/>
                  <a:pt x="7765461" y="2797331"/>
                  <a:pt x="7765381" y="2814793"/>
                </a:cubicBezTo>
                <a:lnTo>
                  <a:pt x="7765381" y="3001483"/>
                </a:lnTo>
                <a:lnTo>
                  <a:pt x="8031843" y="3001483"/>
                </a:lnTo>
                <a:lnTo>
                  <a:pt x="8031843" y="2814793"/>
                </a:lnTo>
                <a:cubicBezTo>
                  <a:pt x="8031410" y="2723830"/>
                  <a:pt x="8005154" y="2650963"/>
                  <a:pt x="7953074" y="2596194"/>
                </a:cubicBezTo>
                <a:cubicBezTo>
                  <a:pt x="7900994" y="2541426"/>
                  <a:pt x="7825688" y="2513327"/>
                  <a:pt x="7727156" y="2511898"/>
                </a:cubicBezTo>
                <a:close/>
                <a:moveTo>
                  <a:pt x="7050881" y="2511898"/>
                </a:moveTo>
                <a:cubicBezTo>
                  <a:pt x="6949024" y="2512652"/>
                  <a:pt x="6872770" y="2539716"/>
                  <a:pt x="6822119" y="2593088"/>
                </a:cubicBezTo>
                <a:cubicBezTo>
                  <a:pt x="6771468" y="2646461"/>
                  <a:pt x="6746163" y="2721616"/>
                  <a:pt x="6746206" y="2818556"/>
                </a:cubicBezTo>
                <a:lnTo>
                  <a:pt x="6746206" y="3858495"/>
                </a:lnTo>
                <a:lnTo>
                  <a:pt x="7016478" y="3858495"/>
                </a:lnTo>
                <a:lnTo>
                  <a:pt x="7016478" y="3349953"/>
                </a:lnTo>
                <a:lnTo>
                  <a:pt x="7089106" y="3349953"/>
                </a:lnTo>
                <a:lnTo>
                  <a:pt x="7089106" y="3858495"/>
                </a:lnTo>
                <a:lnTo>
                  <a:pt x="7355568" y="3858495"/>
                </a:lnTo>
                <a:lnTo>
                  <a:pt x="7355568" y="2831888"/>
                </a:lnTo>
                <a:cubicBezTo>
                  <a:pt x="7355611" y="2735227"/>
                  <a:pt x="7330306" y="2658087"/>
                  <a:pt x="7279654" y="2600469"/>
                </a:cubicBezTo>
                <a:cubicBezTo>
                  <a:pt x="7229001" y="2542851"/>
                  <a:pt x="7152744" y="2513327"/>
                  <a:pt x="7050881" y="2511898"/>
                </a:cubicBezTo>
                <a:close/>
                <a:moveTo>
                  <a:pt x="5780240" y="2511898"/>
                </a:moveTo>
                <a:cubicBezTo>
                  <a:pt x="5680372" y="2512969"/>
                  <a:pt x="5605866" y="2540348"/>
                  <a:pt x="5556723" y="2594034"/>
                </a:cubicBezTo>
                <a:cubicBezTo>
                  <a:pt x="5507580" y="2647721"/>
                  <a:pt x="5483069" y="2721288"/>
                  <a:pt x="5483191" y="2814736"/>
                </a:cubicBezTo>
                <a:lnTo>
                  <a:pt x="5483191" y="2982348"/>
                </a:lnTo>
                <a:cubicBezTo>
                  <a:pt x="5483350" y="3029647"/>
                  <a:pt x="5490646" y="3071233"/>
                  <a:pt x="5505079" y="3107105"/>
                </a:cubicBezTo>
                <a:cubicBezTo>
                  <a:pt x="5519512" y="3142976"/>
                  <a:pt x="5540131" y="3175038"/>
                  <a:pt x="5566936" y="3203291"/>
                </a:cubicBezTo>
                <a:cubicBezTo>
                  <a:pt x="5596000" y="3232734"/>
                  <a:pt x="5629230" y="3258606"/>
                  <a:pt x="5666630" y="3280907"/>
                </a:cubicBezTo>
                <a:cubicBezTo>
                  <a:pt x="5704029" y="3303207"/>
                  <a:pt x="5736804" y="3322413"/>
                  <a:pt x="5764953" y="3338523"/>
                </a:cubicBezTo>
                <a:cubicBezTo>
                  <a:pt x="5787407" y="3351777"/>
                  <a:pt x="5802694" y="3363840"/>
                  <a:pt x="5810816" y="3374712"/>
                </a:cubicBezTo>
                <a:cubicBezTo>
                  <a:pt x="5818937" y="3385585"/>
                  <a:pt x="5822759" y="3401457"/>
                  <a:pt x="5822281" y="3422329"/>
                </a:cubicBezTo>
                <a:lnTo>
                  <a:pt x="5822281" y="3589941"/>
                </a:lnTo>
                <a:cubicBezTo>
                  <a:pt x="5822003" y="3606567"/>
                  <a:pt x="5818260" y="3620455"/>
                  <a:pt x="5811055" y="3631606"/>
                </a:cubicBezTo>
                <a:cubicBezTo>
                  <a:pt x="5803849" y="3642756"/>
                  <a:pt x="5794851" y="3648550"/>
                  <a:pt x="5784062" y="3648986"/>
                </a:cubicBezTo>
                <a:cubicBezTo>
                  <a:pt x="5773274" y="3648550"/>
                  <a:pt x="5764276" y="3642756"/>
                  <a:pt x="5757070" y="3631606"/>
                </a:cubicBezTo>
                <a:cubicBezTo>
                  <a:pt x="5749864" y="3620455"/>
                  <a:pt x="5746122" y="3606567"/>
                  <a:pt x="5745843" y="3589941"/>
                </a:cubicBezTo>
                <a:lnTo>
                  <a:pt x="5745843" y="3370903"/>
                </a:lnTo>
                <a:lnTo>
                  <a:pt x="5479381" y="3370903"/>
                </a:lnTo>
                <a:lnTo>
                  <a:pt x="5479381" y="3589941"/>
                </a:lnTo>
                <a:cubicBezTo>
                  <a:pt x="5479775" y="3679223"/>
                  <a:pt x="5506111" y="3751601"/>
                  <a:pt x="5558389" y="3807074"/>
                </a:cubicBezTo>
                <a:cubicBezTo>
                  <a:pt x="5610669" y="3862548"/>
                  <a:pt x="5686529" y="3891118"/>
                  <a:pt x="5785973" y="3892785"/>
                </a:cubicBezTo>
                <a:cubicBezTo>
                  <a:pt x="5882754" y="3891714"/>
                  <a:pt x="5957263" y="3864334"/>
                  <a:pt x="6009500" y="3810646"/>
                </a:cubicBezTo>
                <a:cubicBezTo>
                  <a:pt x="6061737" y="3756958"/>
                  <a:pt x="6088151" y="3683389"/>
                  <a:pt x="6088743" y="3589941"/>
                </a:cubicBezTo>
                <a:lnTo>
                  <a:pt x="6088743" y="3422329"/>
                </a:lnTo>
                <a:cubicBezTo>
                  <a:pt x="6088267" y="3358919"/>
                  <a:pt x="6078275" y="3306223"/>
                  <a:pt x="6058765" y="3264241"/>
                </a:cubicBezTo>
                <a:cubicBezTo>
                  <a:pt x="6039256" y="3222258"/>
                  <a:pt x="6013086" y="3188609"/>
                  <a:pt x="5980254" y="3163293"/>
                </a:cubicBezTo>
                <a:cubicBezTo>
                  <a:pt x="5948298" y="3140000"/>
                  <a:pt x="5913715" y="3119922"/>
                  <a:pt x="5876506" y="3103057"/>
                </a:cubicBezTo>
                <a:cubicBezTo>
                  <a:pt x="5839296" y="3086193"/>
                  <a:pt x="5808482" y="3069448"/>
                  <a:pt x="5784062" y="3052821"/>
                </a:cubicBezTo>
                <a:cubicBezTo>
                  <a:pt x="5770089" y="3042703"/>
                  <a:pt x="5760772" y="3030560"/>
                  <a:pt x="5756115" y="3016394"/>
                </a:cubicBezTo>
                <a:cubicBezTo>
                  <a:pt x="5751457" y="3002228"/>
                  <a:pt x="5749307" y="2983896"/>
                  <a:pt x="5749665" y="2961396"/>
                </a:cubicBezTo>
                <a:lnTo>
                  <a:pt x="5749665" y="2814736"/>
                </a:lnTo>
                <a:cubicBezTo>
                  <a:pt x="5749625" y="2798110"/>
                  <a:pt x="5752094" y="2784221"/>
                  <a:pt x="5757070" y="2773071"/>
                </a:cubicBezTo>
                <a:cubicBezTo>
                  <a:pt x="5762046" y="2761921"/>
                  <a:pt x="5769770" y="2756128"/>
                  <a:pt x="5780240" y="2755691"/>
                </a:cubicBezTo>
                <a:cubicBezTo>
                  <a:pt x="5791029" y="2756128"/>
                  <a:pt x="5800027" y="2761921"/>
                  <a:pt x="5807233" y="2773071"/>
                </a:cubicBezTo>
                <a:cubicBezTo>
                  <a:pt x="5814439" y="2784221"/>
                  <a:pt x="5818181" y="2798110"/>
                  <a:pt x="5818460" y="2814736"/>
                </a:cubicBezTo>
                <a:lnTo>
                  <a:pt x="5818460" y="3001395"/>
                </a:lnTo>
                <a:lnTo>
                  <a:pt x="6083031" y="3001395"/>
                </a:lnTo>
                <a:lnTo>
                  <a:pt x="6083031" y="2814736"/>
                </a:lnTo>
                <a:cubicBezTo>
                  <a:pt x="6083035" y="2722955"/>
                  <a:pt x="6057809" y="2649864"/>
                  <a:pt x="6007355" y="2595463"/>
                </a:cubicBezTo>
                <a:cubicBezTo>
                  <a:pt x="5956900" y="2541062"/>
                  <a:pt x="5881195" y="2513208"/>
                  <a:pt x="5780240" y="2511898"/>
                </a:cubicBezTo>
                <a:close/>
                <a:moveTo>
                  <a:pt x="5107781" y="2511898"/>
                </a:moveTo>
                <a:cubicBezTo>
                  <a:pt x="5005924" y="2512652"/>
                  <a:pt x="4929670" y="2539716"/>
                  <a:pt x="4879019" y="2593088"/>
                </a:cubicBezTo>
                <a:cubicBezTo>
                  <a:pt x="4828368" y="2646461"/>
                  <a:pt x="4803064" y="2721616"/>
                  <a:pt x="4803106" y="2818556"/>
                </a:cubicBezTo>
                <a:lnTo>
                  <a:pt x="4803106" y="3858495"/>
                </a:lnTo>
                <a:lnTo>
                  <a:pt x="5073378" y="3858495"/>
                </a:lnTo>
                <a:lnTo>
                  <a:pt x="5073378" y="3349953"/>
                </a:lnTo>
                <a:lnTo>
                  <a:pt x="5146006" y="3349953"/>
                </a:lnTo>
                <a:lnTo>
                  <a:pt x="5146006" y="3858495"/>
                </a:lnTo>
                <a:lnTo>
                  <a:pt x="5412468" y="3858495"/>
                </a:lnTo>
                <a:lnTo>
                  <a:pt x="5412468" y="2831888"/>
                </a:lnTo>
                <a:cubicBezTo>
                  <a:pt x="5412511" y="2735227"/>
                  <a:pt x="5387206" y="2658087"/>
                  <a:pt x="5336554" y="2600469"/>
                </a:cubicBezTo>
                <a:cubicBezTo>
                  <a:pt x="5285901" y="2542851"/>
                  <a:pt x="5209644" y="2513327"/>
                  <a:pt x="5107781" y="2511898"/>
                </a:cubicBezTo>
                <a:close/>
                <a:moveTo>
                  <a:pt x="4431506" y="2511898"/>
                </a:moveTo>
                <a:cubicBezTo>
                  <a:pt x="4332981" y="2512891"/>
                  <a:pt x="4257678" y="2539005"/>
                  <a:pt x="4205599" y="2590241"/>
                </a:cubicBezTo>
                <a:cubicBezTo>
                  <a:pt x="4153521" y="2641478"/>
                  <a:pt x="4127265" y="2711884"/>
                  <a:pt x="4126832" y="2801458"/>
                </a:cubicBezTo>
                <a:lnTo>
                  <a:pt x="4126832" y="3858495"/>
                </a:lnTo>
                <a:lnTo>
                  <a:pt x="4397103" y="3858495"/>
                </a:lnTo>
                <a:lnTo>
                  <a:pt x="4397103" y="3344145"/>
                </a:lnTo>
                <a:lnTo>
                  <a:pt x="4635317" y="3344145"/>
                </a:lnTo>
                <a:lnTo>
                  <a:pt x="4635317" y="3091018"/>
                </a:lnTo>
                <a:lnTo>
                  <a:pt x="4397103" y="3091018"/>
                </a:lnTo>
                <a:lnTo>
                  <a:pt x="4397103" y="2814793"/>
                </a:lnTo>
                <a:cubicBezTo>
                  <a:pt x="4396984" y="2800664"/>
                  <a:pt x="4399612" y="2787488"/>
                  <a:pt x="4404987" y="2775264"/>
                </a:cubicBezTo>
                <a:cubicBezTo>
                  <a:pt x="4410363" y="2763041"/>
                  <a:pt x="4419202" y="2756532"/>
                  <a:pt x="4431506" y="2755738"/>
                </a:cubicBezTo>
                <a:cubicBezTo>
                  <a:pt x="4444806" y="2756056"/>
                  <a:pt x="4454521" y="2761612"/>
                  <a:pt x="4460653" y="2772407"/>
                </a:cubicBezTo>
                <a:cubicBezTo>
                  <a:pt x="4466785" y="2783202"/>
                  <a:pt x="4469811" y="2797331"/>
                  <a:pt x="4469731" y="2814793"/>
                </a:cubicBezTo>
                <a:lnTo>
                  <a:pt x="4469731" y="3001483"/>
                </a:lnTo>
                <a:lnTo>
                  <a:pt x="4736193" y="3001483"/>
                </a:lnTo>
                <a:lnTo>
                  <a:pt x="4736193" y="2814793"/>
                </a:lnTo>
                <a:cubicBezTo>
                  <a:pt x="4735760" y="2723830"/>
                  <a:pt x="4709504" y="2650963"/>
                  <a:pt x="4657424" y="2596194"/>
                </a:cubicBezTo>
                <a:cubicBezTo>
                  <a:pt x="4605344" y="2541426"/>
                  <a:pt x="4530038" y="2513327"/>
                  <a:pt x="4431506" y="251189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A64EB-899E-BE6A-E051-EAD4B4D160B7}"/>
              </a:ext>
            </a:extLst>
          </p:cNvPr>
          <p:cNvSpPr txBox="1"/>
          <p:nvPr/>
        </p:nvSpPr>
        <p:spPr>
          <a:xfrm>
            <a:off x="2853158" y="4091619"/>
            <a:ext cx="648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Fast Accurate Fixable pharmacy management and cashiering system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87C40-D340-02BA-705F-B80A5433D8E8}"/>
              </a:ext>
            </a:extLst>
          </p:cNvPr>
          <p:cNvSpPr txBox="1"/>
          <p:nvPr/>
        </p:nvSpPr>
        <p:spPr>
          <a:xfrm>
            <a:off x="4469757" y="6367356"/>
            <a:ext cx="325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Higher Technological Institute | May 2025</a:t>
            </a:r>
          </a:p>
        </p:txBody>
      </p:sp>
    </p:spTree>
    <p:extLst>
      <p:ext uri="{BB962C8B-B14F-4D97-AF65-F5344CB8AC3E}">
        <p14:creationId xmlns:p14="http://schemas.microsoft.com/office/powerpoint/2010/main" val="368674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E467-6F7E-6E5F-D6D8-17434E1C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0150C9-1287-0917-F80A-CC5C26C1F4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12" r="28962" b="555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22B729-1E24-E43F-8C62-F8493FB33BB7}"/>
              </a:ext>
            </a:extLst>
          </p:cNvPr>
          <p:cNvSpPr txBox="1"/>
          <p:nvPr/>
        </p:nvSpPr>
        <p:spPr>
          <a:xfrm>
            <a:off x="2700758" y="9044619"/>
            <a:ext cx="648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Fast Accurate Fixable pharmacy management and cashiering system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F866B-5BC5-8A73-9163-A186D84F74DD}"/>
              </a:ext>
            </a:extLst>
          </p:cNvPr>
          <p:cNvSpPr txBox="1"/>
          <p:nvPr/>
        </p:nvSpPr>
        <p:spPr>
          <a:xfrm>
            <a:off x="4469757" y="6367356"/>
            <a:ext cx="325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Higher Technological Institute | May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8855F-DA99-A8FB-1D17-C8FCF19D5517}"/>
              </a:ext>
            </a:extLst>
          </p:cNvPr>
          <p:cNvSpPr txBox="1"/>
          <p:nvPr/>
        </p:nvSpPr>
        <p:spPr>
          <a:xfrm>
            <a:off x="4381500" y="182867"/>
            <a:ext cx="342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Project Team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F6FDF-F207-799B-F24E-31439A5AEA54}"/>
              </a:ext>
            </a:extLst>
          </p:cNvPr>
          <p:cNvSpPr>
            <a:spLocks noChangeAspect="1"/>
          </p:cNvSpPr>
          <p:nvPr/>
        </p:nvSpPr>
        <p:spPr>
          <a:xfrm>
            <a:off x="-174223683" y="-71932803"/>
            <a:ext cx="344005197" cy="19350292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050881" y="2755702"/>
                </a:moveTo>
                <a:cubicBezTo>
                  <a:pt x="7062508" y="2756019"/>
                  <a:pt x="7071746" y="2761575"/>
                  <a:pt x="7078594" y="2772368"/>
                </a:cubicBezTo>
                <a:cubicBezTo>
                  <a:pt x="7085443" y="2783161"/>
                  <a:pt x="7088947" y="2797287"/>
                  <a:pt x="7089106" y="2814746"/>
                </a:cubicBezTo>
                <a:lnTo>
                  <a:pt x="7089106" y="3098539"/>
                </a:lnTo>
                <a:lnTo>
                  <a:pt x="7016478" y="3098539"/>
                </a:lnTo>
                <a:lnTo>
                  <a:pt x="7016478" y="2814746"/>
                </a:lnTo>
                <a:cubicBezTo>
                  <a:pt x="7016598" y="2797287"/>
                  <a:pt x="7019703" y="2783161"/>
                  <a:pt x="7025796" y="2772368"/>
                </a:cubicBezTo>
                <a:cubicBezTo>
                  <a:pt x="7031888" y="2761575"/>
                  <a:pt x="7040250" y="2756019"/>
                  <a:pt x="7050881" y="2755702"/>
                </a:cubicBezTo>
                <a:close/>
                <a:moveTo>
                  <a:pt x="5107781" y="2755702"/>
                </a:moveTo>
                <a:cubicBezTo>
                  <a:pt x="5119409" y="2756019"/>
                  <a:pt x="5128646" y="2761575"/>
                  <a:pt x="5135494" y="2772368"/>
                </a:cubicBezTo>
                <a:cubicBezTo>
                  <a:pt x="5142343" y="2783161"/>
                  <a:pt x="5145847" y="2797287"/>
                  <a:pt x="5146006" y="2814746"/>
                </a:cubicBezTo>
                <a:lnTo>
                  <a:pt x="5146006" y="3098539"/>
                </a:lnTo>
                <a:lnTo>
                  <a:pt x="5073378" y="3098539"/>
                </a:lnTo>
                <a:lnTo>
                  <a:pt x="5073378" y="2814746"/>
                </a:lnTo>
                <a:cubicBezTo>
                  <a:pt x="5073498" y="2797287"/>
                  <a:pt x="5076603" y="2783161"/>
                  <a:pt x="5082696" y="2772368"/>
                </a:cubicBezTo>
                <a:cubicBezTo>
                  <a:pt x="5088788" y="2761575"/>
                  <a:pt x="5097150" y="2756019"/>
                  <a:pt x="5107781" y="2755702"/>
                </a:cubicBezTo>
                <a:close/>
                <a:moveTo>
                  <a:pt x="6130891" y="2546188"/>
                </a:moveTo>
                <a:lnTo>
                  <a:pt x="6130891" y="2799315"/>
                </a:lnTo>
                <a:lnTo>
                  <a:pt x="6279481" y="2799315"/>
                </a:lnTo>
                <a:lnTo>
                  <a:pt x="6279481" y="3858495"/>
                </a:lnTo>
                <a:lnTo>
                  <a:pt x="6547848" y="3858495"/>
                </a:lnTo>
                <a:lnTo>
                  <a:pt x="6547848" y="2799315"/>
                </a:lnTo>
                <a:lnTo>
                  <a:pt x="6702153" y="2799315"/>
                </a:lnTo>
                <a:lnTo>
                  <a:pt x="6702153" y="2546188"/>
                </a:lnTo>
                <a:close/>
                <a:moveTo>
                  <a:pt x="7727156" y="2511898"/>
                </a:moveTo>
                <a:cubicBezTo>
                  <a:pt x="7628630" y="2512891"/>
                  <a:pt x="7553328" y="2539005"/>
                  <a:pt x="7501249" y="2590241"/>
                </a:cubicBezTo>
                <a:cubicBezTo>
                  <a:pt x="7449170" y="2641478"/>
                  <a:pt x="7422915" y="2711884"/>
                  <a:pt x="7422481" y="2801458"/>
                </a:cubicBezTo>
                <a:lnTo>
                  <a:pt x="7422481" y="3858495"/>
                </a:lnTo>
                <a:lnTo>
                  <a:pt x="7692753" y="3858495"/>
                </a:lnTo>
                <a:lnTo>
                  <a:pt x="7692753" y="3344145"/>
                </a:lnTo>
                <a:lnTo>
                  <a:pt x="7930967" y="3344145"/>
                </a:lnTo>
                <a:lnTo>
                  <a:pt x="7930967" y="3091018"/>
                </a:lnTo>
                <a:lnTo>
                  <a:pt x="7692753" y="3091018"/>
                </a:lnTo>
                <a:lnTo>
                  <a:pt x="7692753" y="2814793"/>
                </a:lnTo>
                <a:cubicBezTo>
                  <a:pt x="7692634" y="2800664"/>
                  <a:pt x="7695262" y="2787488"/>
                  <a:pt x="7700637" y="2775264"/>
                </a:cubicBezTo>
                <a:cubicBezTo>
                  <a:pt x="7706013" y="2763041"/>
                  <a:pt x="7714852" y="2756532"/>
                  <a:pt x="7727156" y="2755738"/>
                </a:cubicBezTo>
                <a:cubicBezTo>
                  <a:pt x="7740455" y="2756056"/>
                  <a:pt x="7750171" y="2761612"/>
                  <a:pt x="7756303" y="2772407"/>
                </a:cubicBezTo>
                <a:cubicBezTo>
                  <a:pt x="7762435" y="2783202"/>
                  <a:pt x="7765461" y="2797331"/>
                  <a:pt x="7765381" y="2814793"/>
                </a:cubicBezTo>
                <a:lnTo>
                  <a:pt x="7765381" y="3001483"/>
                </a:lnTo>
                <a:lnTo>
                  <a:pt x="8031843" y="3001483"/>
                </a:lnTo>
                <a:lnTo>
                  <a:pt x="8031843" y="2814793"/>
                </a:lnTo>
                <a:cubicBezTo>
                  <a:pt x="8031410" y="2723830"/>
                  <a:pt x="8005154" y="2650963"/>
                  <a:pt x="7953074" y="2596194"/>
                </a:cubicBezTo>
                <a:cubicBezTo>
                  <a:pt x="7900994" y="2541426"/>
                  <a:pt x="7825688" y="2513327"/>
                  <a:pt x="7727156" y="2511898"/>
                </a:cubicBezTo>
                <a:close/>
                <a:moveTo>
                  <a:pt x="7050881" y="2511898"/>
                </a:moveTo>
                <a:cubicBezTo>
                  <a:pt x="6949024" y="2512652"/>
                  <a:pt x="6872770" y="2539716"/>
                  <a:pt x="6822119" y="2593088"/>
                </a:cubicBezTo>
                <a:cubicBezTo>
                  <a:pt x="6771468" y="2646461"/>
                  <a:pt x="6746163" y="2721616"/>
                  <a:pt x="6746206" y="2818556"/>
                </a:cubicBezTo>
                <a:lnTo>
                  <a:pt x="6746206" y="3858495"/>
                </a:lnTo>
                <a:lnTo>
                  <a:pt x="7016478" y="3858495"/>
                </a:lnTo>
                <a:lnTo>
                  <a:pt x="7016478" y="3349953"/>
                </a:lnTo>
                <a:lnTo>
                  <a:pt x="7089106" y="3349953"/>
                </a:lnTo>
                <a:lnTo>
                  <a:pt x="7089106" y="3858495"/>
                </a:lnTo>
                <a:lnTo>
                  <a:pt x="7355568" y="3858495"/>
                </a:lnTo>
                <a:lnTo>
                  <a:pt x="7355568" y="2831888"/>
                </a:lnTo>
                <a:cubicBezTo>
                  <a:pt x="7355611" y="2735227"/>
                  <a:pt x="7330306" y="2658087"/>
                  <a:pt x="7279654" y="2600469"/>
                </a:cubicBezTo>
                <a:cubicBezTo>
                  <a:pt x="7229001" y="2542851"/>
                  <a:pt x="7152744" y="2513327"/>
                  <a:pt x="7050881" y="2511898"/>
                </a:cubicBezTo>
                <a:close/>
                <a:moveTo>
                  <a:pt x="5780240" y="2511898"/>
                </a:moveTo>
                <a:cubicBezTo>
                  <a:pt x="5680372" y="2512969"/>
                  <a:pt x="5605866" y="2540348"/>
                  <a:pt x="5556723" y="2594034"/>
                </a:cubicBezTo>
                <a:cubicBezTo>
                  <a:pt x="5507580" y="2647721"/>
                  <a:pt x="5483069" y="2721288"/>
                  <a:pt x="5483191" y="2814736"/>
                </a:cubicBezTo>
                <a:lnTo>
                  <a:pt x="5483191" y="2982348"/>
                </a:lnTo>
                <a:cubicBezTo>
                  <a:pt x="5483350" y="3029647"/>
                  <a:pt x="5490646" y="3071233"/>
                  <a:pt x="5505079" y="3107105"/>
                </a:cubicBezTo>
                <a:cubicBezTo>
                  <a:pt x="5519512" y="3142976"/>
                  <a:pt x="5540131" y="3175038"/>
                  <a:pt x="5566936" y="3203291"/>
                </a:cubicBezTo>
                <a:cubicBezTo>
                  <a:pt x="5596000" y="3232734"/>
                  <a:pt x="5629230" y="3258606"/>
                  <a:pt x="5666630" y="3280907"/>
                </a:cubicBezTo>
                <a:cubicBezTo>
                  <a:pt x="5704029" y="3303207"/>
                  <a:pt x="5736804" y="3322413"/>
                  <a:pt x="5764953" y="3338523"/>
                </a:cubicBezTo>
                <a:cubicBezTo>
                  <a:pt x="5787407" y="3351777"/>
                  <a:pt x="5802694" y="3363840"/>
                  <a:pt x="5810816" y="3374712"/>
                </a:cubicBezTo>
                <a:cubicBezTo>
                  <a:pt x="5818937" y="3385585"/>
                  <a:pt x="5822759" y="3401457"/>
                  <a:pt x="5822281" y="3422329"/>
                </a:cubicBezTo>
                <a:lnTo>
                  <a:pt x="5822281" y="3589941"/>
                </a:lnTo>
                <a:cubicBezTo>
                  <a:pt x="5822003" y="3606567"/>
                  <a:pt x="5818260" y="3620455"/>
                  <a:pt x="5811055" y="3631606"/>
                </a:cubicBezTo>
                <a:cubicBezTo>
                  <a:pt x="5803849" y="3642756"/>
                  <a:pt x="5794851" y="3648550"/>
                  <a:pt x="5784062" y="3648986"/>
                </a:cubicBezTo>
                <a:cubicBezTo>
                  <a:pt x="5773274" y="3648550"/>
                  <a:pt x="5764276" y="3642756"/>
                  <a:pt x="5757070" y="3631606"/>
                </a:cubicBezTo>
                <a:cubicBezTo>
                  <a:pt x="5749864" y="3620455"/>
                  <a:pt x="5746122" y="3606567"/>
                  <a:pt x="5745843" y="3589941"/>
                </a:cubicBezTo>
                <a:lnTo>
                  <a:pt x="5745843" y="3370903"/>
                </a:lnTo>
                <a:lnTo>
                  <a:pt x="5479381" y="3370903"/>
                </a:lnTo>
                <a:lnTo>
                  <a:pt x="5479381" y="3589941"/>
                </a:lnTo>
                <a:cubicBezTo>
                  <a:pt x="5479775" y="3679223"/>
                  <a:pt x="5506111" y="3751601"/>
                  <a:pt x="5558389" y="3807074"/>
                </a:cubicBezTo>
                <a:cubicBezTo>
                  <a:pt x="5610669" y="3862548"/>
                  <a:pt x="5686529" y="3891118"/>
                  <a:pt x="5785973" y="3892785"/>
                </a:cubicBezTo>
                <a:cubicBezTo>
                  <a:pt x="5882754" y="3891714"/>
                  <a:pt x="5957263" y="3864334"/>
                  <a:pt x="6009500" y="3810646"/>
                </a:cubicBezTo>
                <a:cubicBezTo>
                  <a:pt x="6061737" y="3756958"/>
                  <a:pt x="6088151" y="3683389"/>
                  <a:pt x="6088743" y="3589941"/>
                </a:cubicBezTo>
                <a:lnTo>
                  <a:pt x="6088743" y="3422329"/>
                </a:lnTo>
                <a:cubicBezTo>
                  <a:pt x="6088267" y="3358919"/>
                  <a:pt x="6078275" y="3306223"/>
                  <a:pt x="6058765" y="3264241"/>
                </a:cubicBezTo>
                <a:cubicBezTo>
                  <a:pt x="6039256" y="3222258"/>
                  <a:pt x="6013086" y="3188609"/>
                  <a:pt x="5980254" y="3163293"/>
                </a:cubicBezTo>
                <a:cubicBezTo>
                  <a:pt x="5948298" y="3140000"/>
                  <a:pt x="5913715" y="3119922"/>
                  <a:pt x="5876506" y="3103057"/>
                </a:cubicBezTo>
                <a:cubicBezTo>
                  <a:pt x="5839296" y="3086193"/>
                  <a:pt x="5808482" y="3069448"/>
                  <a:pt x="5784062" y="3052821"/>
                </a:cubicBezTo>
                <a:cubicBezTo>
                  <a:pt x="5770089" y="3042703"/>
                  <a:pt x="5760772" y="3030560"/>
                  <a:pt x="5756115" y="3016394"/>
                </a:cubicBezTo>
                <a:cubicBezTo>
                  <a:pt x="5751457" y="3002228"/>
                  <a:pt x="5749307" y="2983896"/>
                  <a:pt x="5749665" y="2961396"/>
                </a:cubicBezTo>
                <a:lnTo>
                  <a:pt x="5749665" y="2814736"/>
                </a:lnTo>
                <a:cubicBezTo>
                  <a:pt x="5749625" y="2798110"/>
                  <a:pt x="5752094" y="2784221"/>
                  <a:pt x="5757070" y="2773071"/>
                </a:cubicBezTo>
                <a:cubicBezTo>
                  <a:pt x="5762046" y="2761921"/>
                  <a:pt x="5769770" y="2756128"/>
                  <a:pt x="5780240" y="2755691"/>
                </a:cubicBezTo>
                <a:cubicBezTo>
                  <a:pt x="5791029" y="2756128"/>
                  <a:pt x="5800027" y="2761921"/>
                  <a:pt x="5807233" y="2773071"/>
                </a:cubicBezTo>
                <a:cubicBezTo>
                  <a:pt x="5814439" y="2784221"/>
                  <a:pt x="5818181" y="2798110"/>
                  <a:pt x="5818460" y="2814736"/>
                </a:cubicBezTo>
                <a:lnTo>
                  <a:pt x="5818460" y="3001395"/>
                </a:lnTo>
                <a:lnTo>
                  <a:pt x="6083031" y="3001395"/>
                </a:lnTo>
                <a:lnTo>
                  <a:pt x="6083031" y="2814736"/>
                </a:lnTo>
                <a:cubicBezTo>
                  <a:pt x="6083035" y="2722955"/>
                  <a:pt x="6057809" y="2649864"/>
                  <a:pt x="6007355" y="2595463"/>
                </a:cubicBezTo>
                <a:cubicBezTo>
                  <a:pt x="5956900" y="2541062"/>
                  <a:pt x="5881195" y="2513208"/>
                  <a:pt x="5780240" y="2511898"/>
                </a:cubicBezTo>
                <a:close/>
                <a:moveTo>
                  <a:pt x="5107781" y="2511898"/>
                </a:moveTo>
                <a:cubicBezTo>
                  <a:pt x="5005924" y="2512652"/>
                  <a:pt x="4929670" y="2539716"/>
                  <a:pt x="4879019" y="2593088"/>
                </a:cubicBezTo>
                <a:cubicBezTo>
                  <a:pt x="4828368" y="2646461"/>
                  <a:pt x="4803064" y="2721616"/>
                  <a:pt x="4803106" y="2818556"/>
                </a:cubicBezTo>
                <a:lnTo>
                  <a:pt x="4803106" y="3858495"/>
                </a:lnTo>
                <a:lnTo>
                  <a:pt x="5073378" y="3858495"/>
                </a:lnTo>
                <a:lnTo>
                  <a:pt x="5073378" y="3349953"/>
                </a:lnTo>
                <a:lnTo>
                  <a:pt x="5146006" y="3349953"/>
                </a:lnTo>
                <a:lnTo>
                  <a:pt x="5146006" y="3858495"/>
                </a:lnTo>
                <a:lnTo>
                  <a:pt x="5412468" y="3858495"/>
                </a:lnTo>
                <a:lnTo>
                  <a:pt x="5412468" y="2831888"/>
                </a:lnTo>
                <a:cubicBezTo>
                  <a:pt x="5412511" y="2735227"/>
                  <a:pt x="5387206" y="2658087"/>
                  <a:pt x="5336554" y="2600469"/>
                </a:cubicBezTo>
                <a:cubicBezTo>
                  <a:pt x="5285901" y="2542851"/>
                  <a:pt x="5209644" y="2513327"/>
                  <a:pt x="5107781" y="2511898"/>
                </a:cubicBezTo>
                <a:close/>
                <a:moveTo>
                  <a:pt x="4431506" y="2511898"/>
                </a:moveTo>
                <a:cubicBezTo>
                  <a:pt x="4332981" y="2512891"/>
                  <a:pt x="4257678" y="2539005"/>
                  <a:pt x="4205599" y="2590241"/>
                </a:cubicBezTo>
                <a:cubicBezTo>
                  <a:pt x="4153521" y="2641478"/>
                  <a:pt x="4127265" y="2711884"/>
                  <a:pt x="4126832" y="2801458"/>
                </a:cubicBezTo>
                <a:lnTo>
                  <a:pt x="4126832" y="3858495"/>
                </a:lnTo>
                <a:lnTo>
                  <a:pt x="4397103" y="3858495"/>
                </a:lnTo>
                <a:lnTo>
                  <a:pt x="4397103" y="3344145"/>
                </a:lnTo>
                <a:lnTo>
                  <a:pt x="4635317" y="3344145"/>
                </a:lnTo>
                <a:lnTo>
                  <a:pt x="4635317" y="3091018"/>
                </a:lnTo>
                <a:lnTo>
                  <a:pt x="4397103" y="3091018"/>
                </a:lnTo>
                <a:lnTo>
                  <a:pt x="4397103" y="2814793"/>
                </a:lnTo>
                <a:cubicBezTo>
                  <a:pt x="4396984" y="2800664"/>
                  <a:pt x="4399612" y="2787488"/>
                  <a:pt x="4404987" y="2775264"/>
                </a:cubicBezTo>
                <a:cubicBezTo>
                  <a:pt x="4410363" y="2763041"/>
                  <a:pt x="4419202" y="2756532"/>
                  <a:pt x="4431506" y="2755738"/>
                </a:cubicBezTo>
                <a:cubicBezTo>
                  <a:pt x="4444806" y="2756056"/>
                  <a:pt x="4454521" y="2761612"/>
                  <a:pt x="4460653" y="2772407"/>
                </a:cubicBezTo>
                <a:cubicBezTo>
                  <a:pt x="4466785" y="2783202"/>
                  <a:pt x="4469811" y="2797331"/>
                  <a:pt x="4469731" y="2814793"/>
                </a:cubicBezTo>
                <a:lnTo>
                  <a:pt x="4469731" y="3001483"/>
                </a:lnTo>
                <a:lnTo>
                  <a:pt x="4736193" y="3001483"/>
                </a:lnTo>
                <a:lnTo>
                  <a:pt x="4736193" y="2814793"/>
                </a:lnTo>
                <a:cubicBezTo>
                  <a:pt x="4735760" y="2723830"/>
                  <a:pt x="4709504" y="2650963"/>
                  <a:pt x="4657424" y="2596194"/>
                </a:cubicBezTo>
                <a:cubicBezTo>
                  <a:pt x="4605344" y="2541426"/>
                  <a:pt x="4530038" y="2513327"/>
                  <a:pt x="4431506" y="251189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5F181-EDF7-CB89-62B2-688EE477C54C}"/>
              </a:ext>
            </a:extLst>
          </p:cNvPr>
          <p:cNvSpPr txBox="1"/>
          <p:nvPr/>
        </p:nvSpPr>
        <p:spPr>
          <a:xfrm>
            <a:off x="598714" y="1350030"/>
            <a:ext cx="3871043" cy="220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Moaaz Ahmed Abdulfattah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Mahmoud Attia Fathy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Mustafa Hany Mustafa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54B2F5-BB39-8B48-7E98-2863AF1F15F4}"/>
              </a:ext>
            </a:extLst>
          </p:cNvPr>
          <p:cNvSpPr txBox="1"/>
          <p:nvPr/>
        </p:nvSpPr>
        <p:spPr>
          <a:xfrm>
            <a:off x="6879772" y="1350031"/>
            <a:ext cx="4713514" cy="220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Mahmoud Mohammed </a:t>
            </a:r>
            <a:r>
              <a:rPr lang="en-US" sz="2400" dirty="0" err="1"/>
              <a:t>Elhusseini</a:t>
            </a:r>
            <a:endParaRPr lang="en-US" sz="2400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Anas Elsaid </a:t>
            </a:r>
            <a:r>
              <a:rPr lang="en-US" sz="2400" dirty="0" err="1"/>
              <a:t>Abdulmaati</a:t>
            </a:r>
            <a:r>
              <a:rPr lang="en-US" sz="2400" dirty="0"/>
              <a:t>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Abdulrahman Atif Abdullah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AF8D9-2A9F-ECC2-C670-1F7DF439B478}"/>
              </a:ext>
            </a:extLst>
          </p:cNvPr>
          <p:cNvSpPr txBox="1"/>
          <p:nvPr/>
        </p:nvSpPr>
        <p:spPr>
          <a:xfrm>
            <a:off x="4275364" y="4027551"/>
            <a:ext cx="3641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Supervised by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AC2BFB-43B5-09B6-4108-5DF9E1DBBB62}"/>
              </a:ext>
            </a:extLst>
          </p:cNvPr>
          <p:cNvSpPr txBox="1"/>
          <p:nvPr/>
        </p:nvSpPr>
        <p:spPr>
          <a:xfrm>
            <a:off x="3699782" y="4904959"/>
            <a:ext cx="4792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Dr/ Hend Shaaban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C1E16-6912-661E-4BB7-9BF9C0CA7D8A}"/>
              </a:ext>
            </a:extLst>
          </p:cNvPr>
          <p:cNvSpPr/>
          <p:nvPr/>
        </p:nvSpPr>
        <p:spPr>
          <a:xfrm>
            <a:off x="-396240" y="0"/>
            <a:ext cx="335280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CED34-6EF1-2EB3-C8CD-AA2DC21A6578}"/>
              </a:ext>
            </a:extLst>
          </p:cNvPr>
          <p:cNvSpPr txBox="1"/>
          <p:nvPr/>
        </p:nvSpPr>
        <p:spPr>
          <a:xfrm>
            <a:off x="-3384414" y="395423"/>
            <a:ext cx="1963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4C2F2-A742-7CFA-AEA9-AD9378C29055}"/>
              </a:ext>
            </a:extLst>
          </p:cNvPr>
          <p:cNvSpPr txBox="1"/>
          <p:nvPr/>
        </p:nvSpPr>
        <p:spPr>
          <a:xfrm>
            <a:off x="-4714240" y="1287609"/>
            <a:ext cx="41757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Implementation &amp; deployment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Website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Database &amp; Backend Services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collection and the object detection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show 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Q&amp;A &amp; System trial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470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19D5-B510-C76A-300C-DBB280FE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F71592-3E91-3EAA-E6F8-B99CEAE1CAF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B58FAB-2C12-EE01-ED78-1DFD058700DC}"/>
              </a:ext>
            </a:extLst>
          </p:cNvPr>
          <p:cNvSpPr/>
          <p:nvPr/>
        </p:nvSpPr>
        <p:spPr>
          <a:xfrm>
            <a:off x="0" y="0"/>
            <a:ext cx="5313680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52D59-6C15-5F8A-6F22-4D5A85D12404}"/>
              </a:ext>
            </a:extLst>
          </p:cNvPr>
          <p:cNvSpPr txBox="1"/>
          <p:nvPr/>
        </p:nvSpPr>
        <p:spPr>
          <a:xfrm>
            <a:off x="1675266" y="395423"/>
            <a:ext cx="1963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75B5D-4073-D3CF-2ED3-8A0E459E0572}"/>
              </a:ext>
            </a:extLst>
          </p:cNvPr>
          <p:cNvSpPr txBox="1"/>
          <p:nvPr/>
        </p:nvSpPr>
        <p:spPr>
          <a:xfrm>
            <a:off x="345440" y="1287609"/>
            <a:ext cx="41757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Implementation &amp; deployment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Website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Database &amp; Backend Services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collection and the object detection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Future Work &amp; 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Q&amp;A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72A81F-5171-69CE-3CB7-DA8DD3602661}"/>
              </a:ext>
            </a:extLst>
          </p:cNvPr>
          <p:cNvGrpSpPr/>
          <p:nvPr/>
        </p:nvGrpSpPr>
        <p:grpSpPr>
          <a:xfrm>
            <a:off x="-15046960" y="0"/>
            <a:ext cx="12054589" cy="6858000"/>
            <a:chOff x="-2316480" y="0"/>
            <a:chExt cx="12054589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B33911B-124D-3EB4-FC79-EAF0CADE70BF}"/>
                </a:ext>
              </a:extLst>
            </p:cNvPr>
            <p:cNvSpPr/>
            <p:nvPr/>
          </p:nvSpPr>
          <p:spPr>
            <a:xfrm>
              <a:off x="-2316480" y="0"/>
              <a:ext cx="11717604" cy="6858000"/>
            </a:xfrm>
            <a:prstGeom prst="rect">
              <a:avLst/>
            </a:prstGeom>
            <a:solidFill>
              <a:srgbClr val="3EAAC1"/>
            </a:solidFill>
            <a:ln>
              <a:solidFill>
                <a:srgbClr val="3EAA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CA2F75D-5CE6-5ED2-3A60-3A49507F0490}"/>
                </a:ext>
              </a:extLst>
            </p:cNvPr>
            <p:cNvSpPr/>
            <p:nvPr/>
          </p:nvSpPr>
          <p:spPr>
            <a:xfrm rot="5400000">
              <a:off x="9128760" y="975360"/>
              <a:ext cx="868178" cy="350520"/>
            </a:xfrm>
            <a:prstGeom prst="triangle">
              <a:avLst/>
            </a:prstGeom>
            <a:solidFill>
              <a:srgbClr val="3EA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0EDF43-E652-B385-CD85-93DFC079B471}"/>
                </a:ext>
              </a:extLst>
            </p:cNvPr>
            <p:cNvSpPr txBox="1"/>
            <p:nvPr/>
          </p:nvSpPr>
          <p:spPr>
            <a:xfrm>
              <a:off x="1149642" y="780143"/>
              <a:ext cx="4785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Queues Despite Available Staff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E876AF-D0CC-42F0-E8BC-26BDA6291863}"/>
                </a:ext>
              </a:extLst>
            </p:cNvPr>
            <p:cNvSpPr txBox="1"/>
            <p:nvPr/>
          </p:nvSpPr>
          <p:spPr>
            <a:xfrm>
              <a:off x="-686778" y="2731187"/>
              <a:ext cx="8458200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Customers wait in line at a single cashier point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Other staff remain idle, unable to assist with checkout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Centralized cashiering causes bottlenecks during peak hours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Leads to frustration, slower service, and lost sales opportunities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DAE38C-F1DD-3492-CF23-E614AD1940B8}"/>
              </a:ext>
            </a:extLst>
          </p:cNvPr>
          <p:cNvGrpSpPr/>
          <p:nvPr/>
        </p:nvGrpSpPr>
        <p:grpSpPr>
          <a:xfrm>
            <a:off x="-14818361" y="0"/>
            <a:ext cx="11536430" cy="6858000"/>
            <a:chOff x="-1737361" y="0"/>
            <a:chExt cx="1153643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AA9F134-8102-B23B-51A9-9AF342A4362B}"/>
                </a:ext>
              </a:extLst>
            </p:cNvPr>
            <p:cNvSpPr/>
            <p:nvPr/>
          </p:nvSpPr>
          <p:spPr>
            <a:xfrm>
              <a:off x="-1737361" y="0"/>
              <a:ext cx="11201149" cy="6858000"/>
            </a:xfrm>
            <a:prstGeom prst="rect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DB9D9D2-93C1-3382-2863-E2AEF144BF30}"/>
                </a:ext>
              </a:extLst>
            </p:cNvPr>
            <p:cNvSpPr/>
            <p:nvPr/>
          </p:nvSpPr>
          <p:spPr>
            <a:xfrm rot="5400000">
              <a:off x="9189720" y="990600"/>
              <a:ext cx="868178" cy="350520"/>
            </a:xfrm>
            <a:prstGeom prst="triangle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8368A8-A052-52FF-F164-5B0214741CA5}"/>
                </a:ext>
              </a:extLst>
            </p:cNvPr>
            <p:cNvSpPr txBox="1"/>
            <p:nvPr/>
          </p:nvSpPr>
          <p:spPr>
            <a:xfrm>
              <a:off x="936707" y="780143"/>
              <a:ext cx="58530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Inflexible Legacy Systems for Owners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3C7676-87A1-3B9C-D32E-9F171D994D71}"/>
                </a:ext>
              </a:extLst>
            </p:cNvPr>
            <p:cNvSpPr txBox="1"/>
            <p:nvPr/>
          </p:nvSpPr>
          <p:spPr>
            <a:xfrm>
              <a:off x="-1020103" y="2731188"/>
              <a:ext cx="9766632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Business insights are tied to desktop software or in-store computers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real-time access to stock levels, sales, or staff activity remotely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Lack of centralized dashboards across multiple branches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Owners are forced to manage reactively, not proactively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14A073-E279-2AFA-1301-AB81082310EF}"/>
              </a:ext>
            </a:extLst>
          </p:cNvPr>
          <p:cNvGrpSpPr/>
          <p:nvPr/>
        </p:nvGrpSpPr>
        <p:grpSpPr>
          <a:xfrm>
            <a:off x="-14513560" y="0"/>
            <a:ext cx="10943047" cy="6858000"/>
            <a:chOff x="0" y="0"/>
            <a:chExt cx="10943047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D113375-755B-8C25-EB04-E3597EEF9A30}"/>
                </a:ext>
              </a:extLst>
            </p:cNvPr>
            <p:cNvSpPr/>
            <p:nvPr/>
          </p:nvSpPr>
          <p:spPr>
            <a:xfrm>
              <a:off x="0" y="0"/>
              <a:ext cx="10638246" cy="6858000"/>
            </a:xfrm>
            <a:prstGeom prst="rect">
              <a:avLst/>
            </a:prstGeom>
            <a:solidFill>
              <a:srgbClr val="3EC19B"/>
            </a:solidFill>
            <a:ln>
              <a:solidFill>
                <a:srgbClr val="3EC1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AB330B7B-B6A0-ABD5-9DF2-F44C3D055167}"/>
                </a:ext>
              </a:extLst>
            </p:cNvPr>
            <p:cNvSpPr/>
            <p:nvPr/>
          </p:nvSpPr>
          <p:spPr>
            <a:xfrm rot="5400000">
              <a:off x="10333698" y="975109"/>
              <a:ext cx="868178" cy="350520"/>
            </a:xfrm>
            <a:prstGeom prst="triangle">
              <a:avLst/>
            </a:prstGeom>
            <a:solidFill>
              <a:srgbClr val="3EC1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1494A7-60DB-4D40-280C-A2F416EE2BAC}"/>
                </a:ext>
              </a:extLst>
            </p:cNvPr>
            <p:cNvSpPr txBox="1"/>
            <p:nvPr/>
          </p:nvSpPr>
          <p:spPr>
            <a:xfrm>
              <a:off x="2713084" y="625889"/>
              <a:ext cx="5166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Outdated Pharmacy Point-of-Sale Systems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C53E88-9B4E-AD04-4B17-54F72C28C663}"/>
                </a:ext>
              </a:extLst>
            </p:cNvPr>
            <p:cNvSpPr txBox="1"/>
            <p:nvPr/>
          </p:nvSpPr>
          <p:spPr>
            <a:xfrm>
              <a:off x="990852" y="2361857"/>
              <a:ext cx="8016240" cy="368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Rely on fixed counter computers and barcode scanners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Limit flexibility, speed, and mobility in daily operations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Ignore advances in AI, mobile computing, and computer vision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Pharmacies need smarter, portable, and AI-driven solutions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7574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9827-C6AC-5154-ABEA-1353DE84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A9337-55B6-F9A8-D10F-C8A7FACBD6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F73A06D-A2B2-4DC3-96A4-AFE9C3B4A9CB}"/>
              </a:ext>
            </a:extLst>
          </p:cNvPr>
          <p:cNvSpPr txBox="1"/>
          <p:nvPr/>
        </p:nvSpPr>
        <p:spPr>
          <a:xfrm>
            <a:off x="1789647" y="2875002"/>
            <a:ext cx="7218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0C2C49-E2C9-FFBA-7B0A-88446C74286E}"/>
              </a:ext>
            </a:extLst>
          </p:cNvPr>
          <p:cNvSpPr/>
          <p:nvPr/>
        </p:nvSpPr>
        <p:spPr>
          <a:xfrm>
            <a:off x="-853942" y="0"/>
            <a:ext cx="688258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65C5D-4CDB-43D3-411D-0F0AA197C71D}"/>
              </a:ext>
            </a:extLst>
          </p:cNvPr>
          <p:cNvSpPr txBox="1"/>
          <p:nvPr/>
        </p:nvSpPr>
        <p:spPr>
          <a:xfrm>
            <a:off x="-3371830" y="395423"/>
            <a:ext cx="1963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5044F0-0634-48D7-1758-962D3D9A5935}"/>
              </a:ext>
            </a:extLst>
          </p:cNvPr>
          <p:cNvSpPr txBox="1"/>
          <p:nvPr/>
        </p:nvSpPr>
        <p:spPr>
          <a:xfrm>
            <a:off x="-4701656" y="1287609"/>
            <a:ext cx="41757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Implementation &amp; deployment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Website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Database &amp; Backend Services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collection and the object detection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show 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Q&amp;A &amp; System trial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80AC6B7-C114-B503-6764-2822573B2F2A}"/>
              </a:ext>
            </a:extLst>
          </p:cNvPr>
          <p:cNvGrpSpPr/>
          <p:nvPr/>
        </p:nvGrpSpPr>
        <p:grpSpPr>
          <a:xfrm>
            <a:off x="-10911840" y="0"/>
            <a:ext cx="12054589" cy="6858000"/>
            <a:chOff x="-2316480" y="0"/>
            <a:chExt cx="1205458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A451DEC-E6E0-A011-4A34-BD555AB059C7}"/>
                </a:ext>
              </a:extLst>
            </p:cNvPr>
            <p:cNvSpPr/>
            <p:nvPr/>
          </p:nvSpPr>
          <p:spPr>
            <a:xfrm>
              <a:off x="-2316480" y="0"/>
              <a:ext cx="11717604" cy="6858000"/>
            </a:xfrm>
            <a:prstGeom prst="rect">
              <a:avLst/>
            </a:prstGeom>
            <a:solidFill>
              <a:srgbClr val="3EAAC1"/>
            </a:solidFill>
            <a:ln>
              <a:solidFill>
                <a:srgbClr val="3EAA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26855D8-9D44-33F1-4B83-EE48566C6543}"/>
                </a:ext>
              </a:extLst>
            </p:cNvPr>
            <p:cNvSpPr/>
            <p:nvPr/>
          </p:nvSpPr>
          <p:spPr>
            <a:xfrm rot="5400000">
              <a:off x="9128760" y="975360"/>
              <a:ext cx="868178" cy="350520"/>
            </a:xfrm>
            <a:prstGeom prst="triangle">
              <a:avLst/>
            </a:prstGeom>
            <a:solidFill>
              <a:srgbClr val="3EA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20A8625-62A2-4FDD-9277-CEEFEF5FEBE7}"/>
                </a:ext>
              </a:extLst>
            </p:cNvPr>
            <p:cNvSpPr txBox="1"/>
            <p:nvPr/>
          </p:nvSpPr>
          <p:spPr>
            <a:xfrm>
              <a:off x="1149642" y="780143"/>
              <a:ext cx="4785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Queues Despite Available Staff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139AF7D-189D-5158-D68E-261CFBC1FFA2}"/>
                </a:ext>
              </a:extLst>
            </p:cNvPr>
            <p:cNvSpPr txBox="1"/>
            <p:nvPr/>
          </p:nvSpPr>
          <p:spPr>
            <a:xfrm>
              <a:off x="-686778" y="2731187"/>
              <a:ext cx="8458200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Customers wait in line at a single cashier point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Other staff remain idle, unable to assist with checkout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Centralized cashiering causes bottlenecks during peak hours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Leads to frustration, slower service, and lost sales opportunities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2E39BAE-44D5-F029-4AD8-646CD1220D99}"/>
              </a:ext>
            </a:extLst>
          </p:cNvPr>
          <p:cNvGrpSpPr/>
          <p:nvPr/>
        </p:nvGrpSpPr>
        <p:grpSpPr>
          <a:xfrm>
            <a:off x="-10683241" y="0"/>
            <a:ext cx="11536430" cy="6858000"/>
            <a:chOff x="-1737361" y="0"/>
            <a:chExt cx="1153643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AC25A9-298A-6E94-F69B-FBDD3023F5F1}"/>
                </a:ext>
              </a:extLst>
            </p:cNvPr>
            <p:cNvSpPr/>
            <p:nvPr/>
          </p:nvSpPr>
          <p:spPr>
            <a:xfrm>
              <a:off x="-1737361" y="0"/>
              <a:ext cx="11201149" cy="6858000"/>
            </a:xfrm>
            <a:prstGeom prst="rect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D503753B-D51C-D40A-7497-0406C2AF349F}"/>
                </a:ext>
              </a:extLst>
            </p:cNvPr>
            <p:cNvSpPr/>
            <p:nvPr/>
          </p:nvSpPr>
          <p:spPr>
            <a:xfrm rot="5400000">
              <a:off x="9189720" y="990600"/>
              <a:ext cx="868178" cy="350520"/>
            </a:xfrm>
            <a:prstGeom prst="triangle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348CB3-EF08-EBE9-66AD-79CF2DFAE8A1}"/>
                </a:ext>
              </a:extLst>
            </p:cNvPr>
            <p:cNvSpPr txBox="1"/>
            <p:nvPr/>
          </p:nvSpPr>
          <p:spPr>
            <a:xfrm>
              <a:off x="936707" y="780143"/>
              <a:ext cx="58530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Inflexible Legacy Systems for Owners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CE8640-5522-0401-C776-3829139D3C85}"/>
                </a:ext>
              </a:extLst>
            </p:cNvPr>
            <p:cNvSpPr txBox="1"/>
            <p:nvPr/>
          </p:nvSpPr>
          <p:spPr>
            <a:xfrm>
              <a:off x="-1020103" y="2731188"/>
              <a:ext cx="9766632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Business insights are tied to desktop software or in-store computers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real-time access to stock levels, sales, or staff activity remotely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Lack of centralized dashboards across multiple branches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Owners are forced to manage reactively, not proactively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65DA792-5AD0-2D20-5D7F-2BB9606DC09B}"/>
              </a:ext>
            </a:extLst>
          </p:cNvPr>
          <p:cNvGrpSpPr/>
          <p:nvPr/>
        </p:nvGrpSpPr>
        <p:grpSpPr>
          <a:xfrm>
            <a:off x="-10378440" y="0"/>
            <a:ext cx="10943047" cy="6858000"/>
            <a:chOff x="0" y="0"/>
            <a:chExt cx="10943047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C3765B-3DDB-E0A8-E8C9-94C78442E7AC}"/>
                </a:ext>
              </a:extLst>
            </p:cNvPr>
            <p:cNvSpPr/>
            <p:nvPr/>
          </p:nvSpPr>
          <p:spPr>
            <a:xfrm>
              <a:off x="0" y="0"/>
              <a:ext cx="10638246" cy="6858000"/>
            </a:xfrm>
            <a:prstGeom prst="rect">
              <a:avLst/>
            </a:prstGeom>
            <a:solidFill>
              <a:srgbClr val="3EC19B"/>
            </a:solidFill>
            <a:ln>
              <a:solidFill>
                <a:srgbClr val="3EC1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3A12BD33-C862-0903-F8B5-6042E1DA20A2}"/>
                </a:ext>
              </a:extLst>
            </p:cNvPr>
            <p:cNvSpPr/>
            <p:nvPr/>
          </p:nvSpPr>
          <p:spPr>
            <a:xfrm rot="5400000">
              <a:off x="10333698" y="975109"/>
              <a:ext cx="868178" cy="350520"/>
            </a:xfrm>
            <a:prstGeom prst="triangle">
              <a:avLst/>
            </a:prstGeom>
            <a:solidFill>
              <a:srgbClr val="3EC1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DA8FF23-0890-65DD-68C0-CFAB3DEF6B15}"/>
                </a:ext>
              </a:extLst>
            </p:cNvPr>
            <p:cNvSpPr txBox="1"/>
            <p:nvPr/>
          </p:nvSpPr>
          <p:spPr>
            <a:xfrm>
              <a:off x="2713084" y="625889"/>
              <a:ext cx="5166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Outdated Pharmacy Point-of-Sale Systems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071893-924E-24E2-2E0A-09241D7BE365}"/>
                </a:ext>
              </a:extLst>
            </p:cNvPr>
            <p:cNvSpPr txBox="1"/>
            <p:nvPr/>
          </p:nvSpPr>
          <p:spPr>
            <a:xfrm>
              <a:off x="990852" y="2361857"/>
              <a:ext cx="8016240" cy="368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Rely on fixed counter computers and barcode scanners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Limit flexibility, speed, and mobility in daily operations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Ignore advances in AI, mobile computing, and computer vision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Pharmacies need smarter, portable, and AI-driven solutions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284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6A19E-BEB1-31D3-A04A-5C4646D11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8ED0EB-E583-F825-FF2F-15EDE2E3B6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E0A25B7-E3F0-C467-53A5-CE8CB9E6F950}"/>
              </a:ext>
            </a:extLst>
          </p:cNvPr>
          <p:cNvSpPr txBox="1"/>
          <p:nvPr/>
        </p:nvSpPr>
        <p:spPr>
          <a:xfrm>
            <a:off x="1789647" y="2875002"/>
            <a:ext cx="7218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DF1C3-18E6-9C72-E9C6-82234112EB13}"/>
              </a:ext>
            </a:extLst>
          </p:cNvPr>
          <p:cNvSpPr/>
          <p:nvPr/>
        </p:nvSpPr>
        <p:spPr>
          <a:xfrm>
            <a:off x="-853942" y="0"/>
            <a:ext cx="688258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9689A-1505-B744-AE95-3B0DAFF3E539}"/>
              </a:ext>
            </a:extLst>
          </p:cNvPr>
          <p:cNvSpPr txBox="1"/>
          <p:nvPr/>
        </p:nvSpPr>
        <p:spPr>
          <a:xfrm>
            <a:off x="-3371830" y="395423"/>
            <a:ext cx="1963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A60E1-4896-E7E7-5B12-FE497E80B7CA}"/>
              </a:ext>
            </a:extLst>
          </p:cNvPr>
          <p:cNvSpPr txBox="1"/>
          <p:nvPr/>
        </p:nvSpPr>
        <p:spPr>
          <a:xfrm>
            <a:off x="-4701656" y="1287609"/>
            <a:ext cx="41757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Implementation &amp; deployment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Website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Database &amp; Backend Services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collection and the object detection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show 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Q&amp;A &amp; System trial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113AAE-0419-85B2-EA5B-D855567A20BB}"/>
              </a:ext>
            </a:extLst>
          </p:cNvPr>
          <p:cNvGrpSpPr/>
          <p:nvPr/>
        </p:nvGrpSpPr>
        <p:grpSpPr>
          <a:xfrm>
            <a:off x="0" y="0"/>
            <a:ext cx="12054589" cy="6858000"/>
            <a:chOff x="-2316480" y="0"/>
            <a:chExt cx="1205458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885CA52-1131-C74B-7E16-8466F4A4CF8C}"/>
                </a:ext>
              </a:extLst>
            </p:cNvPr>
            <p:cNvSpPr/>
            <p:nvPr/>
          </p:nvSpPr>
          <p:spPr>
            <a:xfrm>
              <a:off x="-2316480" y="0"/>
              <a:ext cx="11717604" cy="6858000"/>
            </a:xfrm>
            <a:prstGeom prst="rect">
              <a:avLst/>
            </a:prstGeom>
            <a:solidFill>
              <a:srgbClr val="3EAAC1"/>
            </a:solidFill>
            <a:ln>
              <a:solidFill>
                <a:srgbClr val="3EAA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BB31E92F-D132-DAA2-44F6-C81ADA9C60ED}"/>
                </a:ext>
              </a:extLst>
            </p:cNvPr>
            <p:cNvSpPr/>
            <p:nvPr/>
          </p:nvSpPr>
          <p:spPr>
            <a:xfrm rot="5400000">
              <a:off x="9128760" y="975360"/>
              <a:ext cx="868178" cy="350520"/>
            </a:xfrm>
            <a:prstGeom prst="triangle">
              <a:avLst/>
            </a:prstGeom>
            <a:solidFill>
              <a:srgbClr val="3EA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39320C-18FB-F662-D99B-3C82393A19D1}"/>
                </a:ext>
              </a:extLst>
            </p:cNvPr>
            <p:cNvSpPr txBox="1"/>
            <p:nvPr/>
          </p:nvSpPr>
          <p:spPr>
            <a:xfrm>
              <a:off x="1149642" y="780143"/>
              <a:ext cx="4785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Queues Despite Available Staff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5107A70-131D-C828-4CF0-7E89B18CF93B}"/>
                </a:ext>
              </a:extLst>
            </p:cNvPr>
            <p:cNvSpPr txBox="1"/>
            <p:nvPr/>
          </p:nvSpPr>
          <p:spPr>
            <a:xfrm>
              <a:off x="-686778" y="2731187"/>
              <a:ext cx="8458200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Customers wait in line at a single cashier point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Other staff remain idle, unable to assist with checkout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Centralized cashiering causes bottlenecks during peak hours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Leads to frustration, slower service, and lost sales opportunities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29A99B2-45AE-5181-AB30-438EA328EF8E}"/>
              </a:ext>
            </a:extLst>
          </p:cNvPr>
          <p:cNvGrpSpPr/>
          <p:nvPr/>
        </p:nvGrpSpPr>
        <p:grpSpPr>
          <a:xfrm>
            <a:off x="-10683241" y="0"/>
            <a:ext cx="11536430" cy="6858000"/>
            <a:chOff x="-1737361" y="0"/>
            <a:chExt cx="1153643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9817DE-C2DD-7B34-F918-C5BD5F3AD392}"/>
                </a:ext>
              </a:extLst>
            </p:cNvPr>
            <p:cNvSpPr/>
            <p:nvPr/>
          </p:nvSpPr>
          <p:spPr>
            <a:xfrm>
              <a:off x="-1737361" y="0"/>
              <a:ext cx="11201149" cy="6858000"/>
            </a:xfrm>
            <a:prstGeom prst="rect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01B70F85-770E-829B-9E1E-B41DC1E53CA0}"/>
                </a:ext>
              </a:extLst>
            </p:cNvPr>
            <p:cNvSpPr/>
            <p:nvPr/>
          </p:nvSpPr>
          <p:spPr>
            <a:xfrm rot="5400000">
              <a:off x="9189720" y="990600"/>
              <a:ext cx="868178" cy="350520"/>
            </a:xfrm>
            <a:prstGeom prst="triangle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E6A5586-FDE4-A31A-3DA4-736458ADE3BC}"/>
                </a:ext>
              </a:extLst>
            </p:cNvPr>
            <p:cNvSpPr txBox="1"/>
            <p:nvPr/>
          </p:nvSpPr>
          <p:spPr>
            <a:xfrm>
              <a:off x="936707" y="780143"/>
              <a:ext cx="58530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Inflexible Legacy Systems for Owners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846B0-02A9-4A2C-9027-D995F02A5466}"/>
                </a:ext>
              </a:extLst>
            </p:cNvPr>
            <p:cNvSpPr txBox="1"/>
            <p:nvPr/>
          </p:nvSpPr>
          <p:spPr>
            <a:xfrm>
              <a:off x="-1020103" y="2731188"/>
              <a:ext cx="9766632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Business insights are tied to desktop software or in-store computers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real-time access to stock levels, sales, or staff activity remotely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Lack of centralized dashboards across multiple branches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Owners are forced to manage reactively, not proactively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44013C-3152-DA3C-961F-4550F1DC14B8}"/>
              </a:ext>
            </a:extLst>
          </p:cNvPr>
          <p:cNvGrpSpPr/>
          <p:nvPr/>
        </p:nvGrpSpPr>
        <p:grpSpPr>
          <a:xfrm>
            <a:off x="-10378440" y="0"/>
            <a:ext cx="10943047" cy="6858000"/>
            <a:chOff x="0" y="0"/>
            <a:chExt cx="10943047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1DDA70-041A-F442-C2E4-3173EBEECB1A}"/>
                </a:ext>
              </a:extLst>
            </p:cNvPr>
            <p:cNvSpPr/>
            <p:nvPr/>
          </p:nvSpPr>
          <p:spPr>
            <a:xfrm>
              <a:off x="0" y="0"/>
              <a:ext cx="10638246" cy="6858000"/>
            </a:xfrm>
            <a:prstGeom prst="rect">
              <a:avLst/>
            </a:prstGeom>
            <a:solidFill>
              <a:srgbClr val="3EC19B"/>
            </a:solidFill>
            <a:ln>
              <a:solidFill>
                <a:srgbClr val="3EC1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0383E967-7C70-56E0-94FF-BF29AC0E90E0}"/>
                </a:ext>
              </a:extLst>
            </p:cNvPr>
            <p:cNvSpPr/>
            <p:nvPr/>
          </p:nvSpPr>
          <p:spPr>
            <a:xfrm rot="5400000">
              <a:off x="10333698" y="975109"/>
              <a:ext cx="868178" cy="350520"/>
            </a:xfrm>
            <a:prstGeom prst="triangle">
              <a:avLst/>
            </a:prstGeom>
            <a:solidFill>
              <a:srgbClr val="3EC1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D1AB19-AF0E-4E9E-ED4C-500B2DFD4D4D}"/>
                </a:ext>
              </a:extLst>
            </p:cNvPr>
            <p:cNvSpPr txBox="1"/>
            <p:nvPr/>
          </p:nvSpPr>
          <p:spPr>
            <a:xfrm>
              <a:off x="2713084" y="625889"/>
              <a:ext cx="5166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Outdated Pharmacy Point-of-Sale Systems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FBC634-8FC8-5124-2655-A1DF929DC185}"/>
                </a:ext>
              </a:extLst>
            </p:cNvPr>
            <p:cNvSpPr txBox="1"/>
            <p:nvPr/>
          </p:nvSpPr>
          <p:spPr>
            <a:xfrm>
              <a:off x="990852" y="2361857"/>
              <a:ext cx="8016240" cy="368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Rely on fixed counter computers and barcode scanners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Limit flexibility, speed, and mobility in daily operations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Ignore advances in AI, mobile computing, and computer vision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Pharmacies need smarter, portable, and AI-driven solutions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724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BB78-F790-B75B-8BF0-E299AE23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01F68C-CEEE-E0B4-D07A-288F0FFAC6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B20F03C-D753-90C6-98FC-93650ED4E85C}"/>
              </a:ext>
            </a:extLst>
          </p:cNvPr>
          <p:cNvSpPr txBox="1"/>
          <p:nvPr/>
        </p:nvSpPr>
        <p:spPr>
          <a:xfrm>
            <a:off x="1789647" y="2875002"/>
            <a:ext cx="7218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9ABA8-4543-E470-DEBA-B564991C0AEB}"/>
              </a:ext>
            </a:extLst>
          </p:cNvPr>
          <p:cNvSpPr/>
          <p:nvPr/>
        </p:nvSpPr>
        <p:spPr>
          <a:xfrm>
            <a:off x="-853942" y="0"/>
            <a:ext cx="688258" cy="68580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50204-E2E9-BD34-9EB9-D70EAFCDBCD5}"/>
              </a:ext>
            </a:extLst>
          </p:cNvPr>
          <p:cNvSpPr txBox="1"/>
          <p:nvPr/>
        </p:nvSpPr>
        <p:spPr>
          <a:xfrm>
            <a:off x="-3371830" y="395423"/>
            <a:ext cx="1963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985E19-52BD-C506-FD10-D0AC7CF55D6F}"/>
              </a:ext>
            </a:extLst>
          </p:cNvPr>
          <p:cNvSpPr txBox="1"/>
          <p:nvPr/>
        </p:nvSpPr>
        <p:spPr>
          <a:xfrm>
            <a:off x="-4701656" y="1287609"/>
            <a:ext cx="41757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Implementation &amp; deployment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Website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Database &amp; Backend Services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collection and the object detection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System show case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Q&amp;A &amp; System trial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26E1CEE-40C0-B148-EEF0-E722638505E2}"/>
              </a:ext>
            </a:extLst>
          </p:cNvPr>
          <p:cNvGrpSpPr/>
          <p:nvPr/>
        </p:nvGrpSpPr>
        <p:grpSpPr>
          <a:xfrm>
            <a:off x="0" y="0"/>
            <a:ext cx="12054589" cy="6858000"/>
            <a:chOff x="-2316480" y="0"/>
            <a:chExt cx="1205458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96169AF-E4DD-1DCB-A85F-C3BAC567EF0B}"/>
                </a:ext>
              </a:extLst>
            </p:cNvPr>
            <p:cNvSpPr/>
            <p:nvPr/>
          </p:nvSpPr>
          <p:spPr>
            <a:xfrm>
              <a:off x="-2316480" y="0"/>
              <a:ext cx="11717604" cy="6858000"/>
            </a:xfrm>
            <a:prstGeom prst="rect">
              <a:avLst/>
            </a:prstGeom>
            <a:solidFill>
              <a:srgbClr val="3EAAC1"/>
            </a:solidFill>
            <a:ln>
              <a:solidFill>
                <a:srgbClr val="3EAA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BA173A1-90E6-96E8-466B-C0E7BAD78AFA}"/>
                </a:ext>
              </a:extLst>
            </p:cNvPr>
            <p:cNvSpPr/>
            <p:nvPr/>
          </p:nvSpPr>
          <p:spPr>
            <a:xfrm rot="5400000">
              <a:off x="9128760" y="975360"/>
              <a:ext cx="868178" cy="350520"/>
            </a:xfrm>
            <a:prstGeom prst="triangle">
              <a:avLst/>
            </a:prstGeom>
            <a:solidFill>
              <a:srgbClr val="3EA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AE6E73-02F2-A0C7-91F9-046A531B9CC4}"/>
                </a:ext>
              </a:extLst>
            </p:cNvPr>
            <p:cNvSpPr txBox="1"/>
            <p:nvPr/>
          </p:nvSpPr>
          <p:spPr>
            <a:xfrm>
              <a:off x="1149642" y="780143"/>
              <a:ext cx="4785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Queues Despite Available Staff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254B0E-1D60-CA18-0958-ADC56817DD19}"/>
                </a:ext>
              </a:extLst>
            </p:cNvPr>
            <p:cNvSpPr txBox="1"/>
            <p:nvPr/>
          </p:nvSpPr>
          <p:spPr>
            <a:xfrm>
              <a:off x="-686778" y="2731187"/>
              <a:ext cx="8458200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Customers wait in line at a single cashier point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Other staff remain idle, unable to assist with checkout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Centralized cashiering causes bottlenecks during peak hours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Leads to frustration, slower service, and lost sales opportunities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A85BB4F-0367-43C3-6AFF-D6C5B10C9F53}"/>
              </a:ext>
            </a:extLst>
          </p:cNvPr>
          <p:cNvGrpSpPr/>
          <p:nvPr/>
        </p:nvGrpSpPr>
        <p:grpSpPr>
          <a:xfrm>
            <a:off x="30228" y="0"/>
            <a:ext cx="11536430" cy="6858000"/>
            <a:chOff x="-1737361" y="0"/>
            <a:chExt cx="1153643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19C97DA-66FF-742D-E1AA-313E639917A7}"/>
                </a:ext>
              </a:extLst>
            </p:cNvPr>
            <p:cNvSpPr/>
            <p:nvPr/>
          </p:nvSpPr>
          <p:spPr>
            <a:xfrm>
              <a:off x="-1737361" y="0"/>
              <a:ext cx="11201149" cy="6858000"/>
            </a:xfrm>
            <a:prstGeom prst="rect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DCD7514A-DE7B-0F6A-4E53-3AACF9E5EC07}"/>
                </a:ext>
              </a:extLst>
            </p:cNvPr>
            <p:cNvSpPr/>
            <p:nvPr/>
          </p:nvSpPr>
          <p:spPr>
            <a:xfrm rot="5400000">
              <a:off x="9189720" y="990600"/>
              <a:ext cx="868178" cy="350520"/>
            </a:xfrm>
            <a:prstGeom prst="triangle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1DFC97-8804-6901-1F21-8F26DEDA9613}"/>
                </a:ext>
              </a:extLst>
            </p:cNvPr>
            <p:cNvSpPr txBox="1"/>
            <p:nvPr/>
          </p:nvSpPr>
          <p:spPr>
            <a:xfrm>
              <a:off x="936707" y="780143"/>
              <a:ext cx="58530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Inflexible Legacy Systems for Owners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164E7F0-54C6-3CA5-A8C8-5ACA10158DBA}"/>
                </a:ext>
              </a:extLst>
            </p:cNvPr>
            <p:cNvSpPr txBox="1"/>
            <p:nvPr/>
          </p:nvSpPr>
          <p:spPr>
            <a:xfrm>
              <a:off x="-1020103" y="2731188"/>
              <a:ext cx="9766632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Business insights are tied to desktop software or in-store computers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real-time access to stock levels, sales, or staff activity remotely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Lack of centralized dashboards across multiple branches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Owners are forced to manage reactively, not proactively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22091D-64F6-14CB-77FA-4C70FE16C533}"/>
              </a:ext>
            </a:extLst>
          </p:cNvPr>
          <p:cNvGrpSpPr/>
          <p:nvPr/>
        </p:nvGrpSpPr>
        <p:grpSpPr>
          <a:xfrm>
            <a:off x="-10378440" y="0"/>
            <a:ext cx="10943047" cy="6858000"/>
            <a:chOff x="0" y="0"/>
            <a:chExt cx="10943047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52BB3A-11B6-135C-6850-0D33969DA12D}"/>
                </a:ext>
              </a:extLst>
            </p:cNvPr>
            <p:cNvSpPr/>
            <p:nvPr/>
          </p:nvSpPr>
          <p:spPr>
            <a:xfrm>
              <a:off x="0" y="0"/>
              <a:ext cx="10638246" cy="6858000"/>
            </a:xfrm>
            <a:prstGeom prst="rect">
              <a:avLst/>
            </a:prstGeom>
            <a:solidFill>
              <a:srgbClr val="3EC19B"/>
            </a:solidFill>
            <a:ln>
              <a:solidFill>
                <a:srgbClr val="3EC1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E539655-6884-97EC-C185-5AF7AFB1D130}"/>
                </a:ext>
              </a:extLst>
            </p:cNvPr>
            <p:cNvSpPr/>
            <p:nvPr/>
          </p:nvSpPr>
          <p:spPr>
            <a:xfrm rot="5400000">
              <a:off x="10333698" y="975109"/>
              <a:ext cx="868178" cy="350520"/>
            </a:xfrm>
            <a:prstGeom prst="triangle">
              <a:avLst/>
            </a:prstGeom>
            <a:solidFill>
              <a:srgbClr val="3EC1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9C9476-1E98-8CF5-67CF-7D7794BF8E16}"/>
                </a:ext>
              </a:extLst>
            </p:cNvPr>
            <p:cNvSpPr txBox="1"/>
            <p:nvPr/>
          </p:nvSpPr>
          <p:spPr>
            <a:xfrm>
              <a:off x="2713084" y="625889"/>
              <a:ext cx="5166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Outdated Pharmacy Point-of-Sale Systems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65C363-BB98-5E6A-912E-EB9F75AE92E3}"/>
                </a:ext>
              </a:extLst>
            </p:cNvPr>
            <p:cNvSpPr txBox="1"/>
            <p:nvPr/>
          </p:nvSpPr>
          <p:spPr>
            <a:xfrm>
              <a:off x="990852" y="2361857"/>
              <a:ext cx="8016240" cy="368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Rely on fixed counter computers and barcode scanners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Limit flexibility, speed, and mobility in daily operations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Ignore advances in AI, mobile computing, and computer vision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Pharmacies need smarter, portable, and AI-driven solutions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87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594F2-B27B-76BF-CCF0-A6BBAE05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A25087-1385-9C85-6237-8DD6D540FF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6000">
                <a:schemeClr val="tx1"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491C6-3446-A29E-0086-F0750C5F98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5C25195-E1EB-F5C7-882D-1C237B990662}"/>
              </a:ext>
            </a:extLst>
          </p:cNvPr>
          <p:cNvSpPr txBox="1"/>
          <p:nvPr/>
        </p:nvSpPr>
        <p:spPr>
          <a:xfrm>
            <a:off x="1789647" y="2875002"/>
            <a:ext cx="7218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8534E-9EEF-F4E1-5952-AA90D1EB8D40}"/>
              </a:ext>
            </a:extLst>
          </p:cNvPr>
          <p:cNvSpPr txBox="1"/>
          <p:nvPr/>
        </p:nvSpPr>
        <p:spPr>
          <a:xfrm>
            <a:off x="-3371830" y="395423"/>
            <a:ext cx="1963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B2DCFD-5068-05B5-F144-641DB0C7B187}"/>
              </a:ext>
            </a:extLst>
          </p:cNvPr>
          <p:cNvGrpSpPr/>
          <p:nvPr/>
        </p:nvGrpSpPr>
        <p:grpSpPr>
          <a:xfrm>
            <a:off x="0" y="0"/>
            <a:ext cx="12054589" cy="6858000"/>
            <a:chOff x="-2316480" y="0"/>
            <a:chExt cx="12054589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917400-2801-A4F0-754A-2B6466ECEF38}"/>
                </a:ext>
              </a:extLst>
            </p:cNvPr>
            <p:cNvSpPr/>
            <p:nvPr/>
          </p:nvSpPr>
          <p:spPr>
            <a:xfrm>
              <a:off x="-2316480" y="0"/>
              <a:ext cx="11717604" cy="6858000"/>
            </a:xfrm>
            <a:prstGeom prst="rect">
              <a:avLst/>
            </a:prstGeom>
            <a:solidFill>
              <a:srgbClr val="3EAAC1"/>
            </a:solidFill>
            <a:ln>
              <a:solidFill>
                <a:srgbClr val="3EAA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2DACF5B-473A-0543-E64D-E81928AA49F1}"/>
                </a:ext>
              </a:extLst>
            </p:cNvPr>
            <p:cNvSpPr/>
            <p:nvPr/>
          </p:nvSpPr>
          <p:spPr>
            <a:xfrm rot="5400000">
              <a:off x="9128760" y="975360"/>
              <a:ext cx="868178" cy="350520"/>
            </a:xfrm>
            <a:prstGeom prst="triangle">
              <a:avLst/>
            </a:prstGeom>
            <a:solidFill>
              <a:srgbClr val="3EA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3EB28E-7930-440F-E035-99C3A5589E85}"/>
                </a:ext>
              </a:extLst>
            </p:cNvPr>
            <p:cNvSpPr txBox="1"/>
            <p:nvPr/>
          </p:nvSpPr>
          <p:spPr>
            <a:xfrm>
              <a:off x="1149642" y="780143"/>
              <a:ext cx="4785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Queues Despite Available Staff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1A04A7-3A6E-9256-DE7F-AE1B3B44B9F4}"/>
                </a:ext>
              </a:extLst>
            </p:cNvPr>
            <p:cNvSpPr txBox="1"/>
            <p:nvPr/>
          </p:nvSpPr>
          <p:spPr>
            <a:xfrm>
              <a:off x="-686778" y="2731187"/>
              <a:ext cx="8458200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Customers wait in line at a single cashier point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Other staff remain idle, unable to assist with checkout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Centralized cashiering causes bottlenecks during peak hours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Leads to frustration, slower service, and lost sales opportunities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A7F9EA4-2C7E-0C39-A7A2-56BC13FDBFFE}"/>
              </a:ext>
            </a:extLst>
          </p:cNvPr>
          <p:cNvGrpSpPr/>
          <p:nvPr/>
        </p:nvGrpSpPr>
        <p:grpSpPr>
          <a:xfrm>
            <a:off x="30228" y="0"/>
            <a:ext cx="11536430" cy="6858000"/>
            <a:chOff x="-1737361" y="0"/>
            <a:chExt cx="1153643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1F92140-93EB-0FFF-40DB-DEC77FA9ED1E}"/>
                </a:ext>
              </a:extLst>
            </p:cNvPr>
            <p:cNvSpPr/>
            <p:nvPr/>
          </p:nvSpPr>
          <p:spPr>
            <a:xfrm>
              <a:off x="-1737361" y="0"/>
              <a:ext cx="11201149" cy="6858000"/>
            </a:xfrm>
            <a:prstGeom prst="rect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6EC4EF41-359A-2C42-FCB1-2327742679D5}"/>
                </a:ext>
              </a:extLst>
            </p:cNvPr>
            <p:cNvSpPr/>
            <p:nvPr/>
          </p:nvSpPr>
          <p:spPr>
            <a:xfrm rot="5400000">
              <a:off x="9189720" y="990600"/>
              <a:ext cx="868178" cy="350520"/>
            </a:xfrm>
            <a:prstGeom prst="triangle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48BF23-F568-6466-D77C-E39498522026}"/>
                </a:ext>
              </a:extLst>
            </p:cNvPr>
            <p:cNvSpPr txBox="1"/>
            <p:nvPr/>
          </p:nvSpPr>
          <p:spPr>
            <a:xfrm>
              <a:off x="936707" y="780143"/>
              <a:ext cx="58530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Inflexible Legacy Systems for Owners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617D83-8233-F947-58F2-27C7F9C7397D}"/>
                </a:ext>
              </a:extLst>
            </p:cNvPr>
            <p:cNvSpPr txBox="1"/>
            <p:nvPr/>
          </p:nvSpPr>
          <p:spPr>
            <a:xfrm>
              <a:off x="-1020103" y="2731188"/>
              <a:ext cx="9766632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Business insights are tied to desktop software or in-store computers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real-time access to stock levels, sales, or staff activity remotely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Lack of centralized dashboards across multiple branches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Owners are forced to manage reactively, not proactively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970781-11E4-63DE-FEAE-43BA16405550}"/>
              </a:ext>
            </a:extLst>
          </p:cNvPr>
          <p:cNvGrpSpPr/>
          <p:nvPr/>
        </p:nvGrpSpPr>
        <p:grpSpPr>
          <a:xfrm>
            <a:off x="28844" y="-16883"/>
            <a:ext cx="10943047" cy="6858000"/>
            <a:chOff x="0" y="0"/>
            <a:chExt cx="10943047" cy="6858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C3886B-276D-18EE-F28E-7AEA7D96D39C}"/>
                </a:ext>
              </a:extLst>
            </p:cNvPr>
            <p:cNvSpPr/>
            <p:nvPr/>
          </p:nvSpPr>
          <p:spPr>
            <a:xfrm>
              <a:off x="0" y="0"/>
              <a:ext cx="10638246" cy="6858000"/>
            </a:xfrm>
            <a:prstGeom prst="rect">
              <a:avLst/>
            </a:prstGeom>
            <a:solidFill>
              <a:srgbClr val="3EC19B"/>
            </a:solidFill>
            <a:ln>
              <a:solidFill>
                <a:srgbClr val="3EC1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63FE64C8-0AA9-7738-43D6-AD38279260F0}"/>
                </a:ext>
              </a:extLst>
            </p:cNvPr>
            <p:cNvSpPr/>
            <p:nvPr/>
          </p:nvSpPr>
          <p:spPr>
            <a:xfrm rot="5400000">
              <a:off x="10333698" y="975109"/>
              <a:ext cx="868178" cy="350520"/>
            </a:xfrm>
            <a:prstGeom prst="triangle">
              <a:avLst/>
            </a:prstGeom>
            <a:solidFill>
              <a:srgbClr val="3EC1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2A688F-EE5B-ACA8-B2EC-AF2C7BA32E67}"/>
                </a:ext>
              </a:extLst>
            </p:cNvPr>
            <p:cNvSpPr txBox="1"/>
            <p:nvPr/>
          </p:nvSpPr>
          <p:spPr>
            <a:xfrm>
              <a:off x="2713084" y="625889"/>
              <a:ext cx="5166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Outdated Pharmacy Point-of-Sale Systems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4A18259-0073-B579-A991-1E953338EDFE}"/>
                </a:ext>
              </a:extLst>
            </p:cNvPr>
            <p:cNvSpPr txBox="1"/>
            <p:nvPr/>
          </p:nvSpPr>
          <p:spPr>
            <a:xfrm>
              <a:off x="990852" y="2361857"/>
              <a:ext cx="8016240" cy="368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Rely on fixed counter computers and barcode scanners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Limit flexibility, speed, and mobility in daily operations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Ignore advances in AI, mobile computing, and computer vision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Pharmacies need smarter, portable, and AI-driven solutions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8A4783-B0A5-4A8A-77FF-178DC6C52285}"/>
              </a:ext>
            </a:extLst>
          </p:cNvPr>
          <p:cNvGrpSpPr/>
          <p:nvPr/>
        </p:nvGrpSpPr>
        <p:grpSpPr>
          <a:xfrm>
            <a:off x="-9621130" y="-709246"/>
            <a:ext cx="8276492" cy="8276492"/>
            <a:chOff x="-4302370" y="-709246"/>
            <a:chExt cx="8276492" cy="8276492"/>
          </a:xfrm>
        </p:grpSpPr>
        <p:sp useBgFill="1">
          <p:nvSpPr>
            <p:cNvPr id="15" name="Flowchart: Summing Junction 14">
              <a:extLst>
                <a:ext uri="{FF2B5EF4-FFF2-40B4-BE49-F238E27FC236}">
                  <a16:creationId xmlns:a16="http://schemas.microsoft.com/office/drawing/2014/main" id="{4402C641-DA55-4BAB-3A28-50735E1AB64C}"/>
                </a:ext>
              </a:extLst>
            </p:cNvPr>
            <p:cNvSpPr/>
            <p:nvPr/>
          </p:nvSpPr>
          <p:spPr>
            <a:xfrm>
              <a:off x="-4302370" y="-709246"/>
              <a:ext cx="8276492" cy="8276492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F40DD14-41C2-242E-F259-C346D2B98A97}"/>
                </a:ext>
              </a:extLst>
            </p:cNvPr>
            <p:cNvSpPr txBox="1"/>
            <p:nvPr/>
          </p:nvSpPr>
          <p:spPr>
            <a:xfrm rot="5400000">
              <a:off x="1327319" y="3075056"/>
              <a:ext cx="316586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Requirements</a:t>
              </a:r>
              <a:endPara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469509-757D-4406-A8A9-2C66F29D6B79}"/>
                </a:ext>
              </a:extLst>
            </p:cNvPr>
            <p:cNvSpPr txBox="1"/>
            <p:nvPr/>
          </p:nvSpPr>
          <p:spPr>
            <a:xfrm rot="10800000">
              <a:off x="-2092698" y="6148754"/>
              <a:ext cx="3857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Owner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17A3C4-00DF-6AB1-A5FD-6AA313A4D6F1}"/>
                </a:ext>
              </a:extLst>
            </p:cNvPr>
            <p:cNvSpPr txBox="1"/>
            <p:nvPr/>
          </p:nvSpPr>
          <p:spPr>
            <a:xfrm rot="16200000">
              <a:off x="-5082533" y="3075056"/>
              <a:ext cx="3688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Branch Manager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B827E8-37FE-57BD-E4B8-24D3CEAB456C}"/>
                </a:ext>
              </a:extLst>
            </p:cNvPr>
            <p:cNvSpPr txBox="1"/>
            <p:nvPr/>
          </p:nvSpPr>
          <p:spPr>
            <a:xfrm>
              <a:off x="-2316115" y="-1"/>
              <a:ext cx="4632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employee</a:t>
              </a:r>
            </a:p>
          </p:txBody>
        </p:sp>
      </p:grp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D42B03C4-92D7-5826-55E5-E60941EE14F2}"/>
              </a:ext>
            </a:extLst>
          </p:cNvPr>
          <p:cNvSpPr/>
          <p:nvPr/>
        </p:nvSpPr>
        <p:spPr>
          <a:xfrm>
            <a:off x="-7493393" y="1418491"/>
            <a:ext cx="4021017" cy="4021017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28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57822D-F9AC-F97E-B965-3A09090160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6000">
                <a:schemeClr val="tx1"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4F18D6-F39C-3E60-5AFB-80A816D351B0}"/>
              </a:ext>
            </a:extLst>
          </p:cNvPr>
          <p:cNvGrpSpPr/>
          <p:nvPr/>
        </p:nvGrpSpPr>
        <p:grpSpPr>
          <a:xfrm>
            <a:off x="-4302370" y="-709246"/>
            <a:ext cx="8276492" cy="8276492"/>
            <a:chOff x="-4302370" y="-709246"/>
            <a:chExt cx="8276492" cy="8276492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18B1B5E4-FC0A-4346-F148-FB4329EB1A95}"/>
                </a:ext>
              </a:extLst>
            </p:cNvPr>
            <p:cNvSpPr/>
            <p:nvPr/>
          </p:nvSpPr>
          <p:spPr>
            <a:xfrm>
              <a:off x="-4302370" y="-709246"/>
              <a:ext cx="8276492" cy="8276492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8889C5-2092-D65A-422E-3F53D2B422E4}"/>
                </a:ext>
              </a:extLst>
            </p:cNvPr>
            <p:cNvSpPr txBox="1"/>
            <p:nvPr/>
          </p:nvSpPr>
          <p:spPr>
            <a:xfrm rot="5400000">
              <a:off x="1327319" y="3075056"/>
              <a:ext cx="316586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Requirements</a:t>
              </a:r>
              <a:endPara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75D7D0-77D0-4B7C-CB92-5CA402C32EFD}"/>
                </a:ext>
              </a:extLst>
            </p:cNvPr>
            <p:cNvSpPr txBox="1"/>
            <p:nvPr/>
          </p:nvSpPr>
          <p:spPr>
            <a:xfrm rot="10800000">
              <a:off x="-2092698" y="6148754"/>
              <a:ext cx="3857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Owner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B68232-246B-6784-5874-AE656B1DB68B}"/>
                </a:ext>
              </a:extLst>
            </p:cNvPr>
            <p:cNvSpPr txBox="1"/>
            <p:nvPr/>
          </p:nvSpPr>
          <p:spPr>
            <a:xfrm rot="16200000">
              <a:off x="-5082533" y="3075056"/>
              <a:ext cx="3688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Branch Manager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E90B8B-23EA-BB9B-0C9E-31E699E39776}"/>
                </a:ext>
              </a:extLst>
            </p:cNvPr>
            <p:cNvSpPr txBox="1"/>
            <p:nvPr/>
          </p:nvSpPr>
          <p:spPr>
            <a:xfrm>
              <a:off x="-2316115" y="-1"/>
              <a:ext cx="4632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employee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4B9426B8-546C-337F-982F-40866EC4F89A}"/>
              </a:ext>
            </a:extLst>
          </p:cNvPr>
          <p:cNvSpPr/>
          <p:nvPr/>
        </p:nvSpPr>
        <p:spPr>
          <a:xfrm>
            <a:off x="-2174633" y="1418491"/>
            <a:ext cx="4021017" cy="4021017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20823-3B3F-598B-CA09-29EF6910EA74}"/>
              </a:ext>
            </a:extLst>
          </p:cNvPr>
          <p:cNvSpPr txBox="1"/>
          <p:nvPr/>
        </p:nvSpPr>
        <p:spPr>
          <a:xfrm>
            <a:off x="4063849" y="3166848"/>
            <a:ext cx="8038423" cy="2573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Requirements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Owner Requirements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pharmacy profile and manage multiple branches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and manage employee and manager accounts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stock levels, expiry dates, and profits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real-time sales analytics through a web dashboard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alerts for low stock and soon-to-expire drugs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 Manager Requirements</a:t>
            </a: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the system with branch-restricted login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and manage employees for their branch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employee activity and shift schedules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real-time sales, receipts, inventory, and profits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alerts for near-expiry stock for timely 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Employee Requirements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in through the Android app with a branch-specific account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phone camera to search for or scan drugs (barcode-free detection)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items to cart, adjust quantities, and complete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receipt history for returns or replacements within 14 days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Receive expiry alerts and guidance on shelf arrangement by expiry date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D04F99-B36B-D47A-4460-C29B76A14A4F}"/>
              </a:ext>
            </a:extLst>
          </p:cNvPr>
          <p:cNvGrpSpPr/>
          <p:nvPr/>
        </p:nvGrpSpPr>
        <p:grpSpPr>
          <a:xfrm>
            <a:off x="-16458767" y="0"/>
            <a:ext cx="12054589" cy="6858000"/>
            <a:chOff x="-2316480" y="0"/>
            <a:chExt cx="12054589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DB3A2-A28C-F7E2-6B4C-BB03F28F84BE}"/>
                </a:ext>
              </a:extLst>
            </p:cNvPr>
            <p:cNvSpPr/>
            <p:nvPr/>
          </p:nvSpPr>
          <p:spPr>
            <a:xfrm>
              <a:off x="-2316480" y="0"/>
              <a:ext cx="11717604" cy="6858000"/>
            </a:xfrm>
            <a:prstGeom prst="rect">
              <a:avLst/>
            </a:prstGeom>
            <a:solidFill>
              <a:srgbClr val="3EAAC1"/>
            </a:solidFill>
            <a:ln>
              <a:solidFill>
                <a:srgbClr val="3EAAC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49821FE7-DA16-73EE-E1B3-FF16CB43BFB0}"/>
                </a:ext>
              </a:extLst>
            </p:cNvPr>
            <p:cNvSpPr/>
            <p:nvPr/>
          </p:nvSpPr>
          <p:spPr>
            <a:xfrm rot="5400000">
              <a:off x="9128760" y="975360"/>
              <a:ext cx="868178" cy="350520"/>
            </a:xfrm>
            <a:prstGeom prst="triangle">
              <a:avLst/>
            </a:prstGeom>
            <a:solidFill>
              <a:srgbClr val="3EAA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8DC5DA-8F38-B499-4F60-263D7CD955E2}"/>
                </a:ext>
              </a:extLst>
            </p:cNvPr>
            <p:cNvSpPr txBox="1"/>
            <p:nvPr/>
          </p:nvSpPr>
          <p:spPr>
            <a:xfrm>
              <a:off x="1149642" y="780143"/>
              <a:ext cx="4785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 Queues Despite Available Staff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5D6E0F-89B9-D9E5-B767-E5376A31BA10}"/>
                </a:ext>
              </a:extLst>
            </p:cNvPr>
            <p:cNvSpPr txBox="1"/>
            <p:nvPr/>
          </p:nvSpPr>
          <p:spPr>
            <a:xfrm>
              <a:off x="-686778" y="2731187"/>
              <a:ext cx="8458200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Customers wait in line at a single cashier point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Other staff remain idle, unable to assist with checkout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Centralized cashiering causes bottlenecks during peak hours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Leads to frustration, slower service, and lost sales opportunities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EBE233-F2FC-34E0-C458-D447B1F3ABFC}"/>
              </a:ext>
            </a:extLst>
          </p:cNvPr>
          <p:cNvGrpSpPr/>
          <p:nvPr/>
        </p:nvGrpSpPr>
        <p:grpSpPr>
          <a:xfrm>
            <a:off x="-16428539" y="0"/>
            <a:ext cx="11536430" cy="6858000"/>
            <a:chOff x="-1737361" y="0"/>
            <a:chExt cx="11536430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004E51-3EC3-9D18-0329-307118421E3E}"/>
                </a:ext>
              </a:extLst>
            </p:cNvPr>
            <p:cNvSpPr/>
            <p:nvPr/>
          </p:nvSpPr>
          <p:spPr>
            <a:xfrm>
              <a:off x="-1737361" y="0"/>
              <a:ext cx="11201149" cy="6858000"/>
            </a:xfrm>
            <a:prstGeom prst="rect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534334E-1DC7-006C-E474-4B4782337C17}"/>
                </a:ext>
              </a:extLst>
            </p:cNvPr>
            <p:cNvSpPr/>
            <p:nvPr/>
          </p:nvSpPr>
          <p:spPr>
            <a:xfrm rot="5400000">
              <a:off x="9189720" y="990600"/>
              <a:ext cx="868178" cy="350520"/>
            </a:xfrm>
            <a:prstGeom prst="triangle">
              <a:avLst/>
            </a:prstGeom>
            <a:solidFill>
              <a:srgbClr val="3EC1BB"/>
            </a:solidFill>
            <a:ln>
              <a:solidFill>
                <a:srgbClr val="3EC1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51F7CB-01B5-3CFB-7EDA-D1F18463E0B9}"/>
                </a:ext>
              </a:extLst>
            </p:cNvPr>
            <p:cNvSpPr txBox="1"/>
            <p:nvPr/>
          </p:nvSpPr>
          <p:spPr>
            <a:xfrm>
              <a:off x="936707" y="780143"/>
              <a:ext cx="585301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Inflexible Legacy Systems for Owners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E8527D-E215-33B9-9B2C-5CCB0072A60F}"/>
                </a:ext>
              </a:extLst>
            </p:cNvPr>
            <p:cNvSpPr txBox="1"/>
            <p:nvPr/>
          </p:nvSpPr>
          <p:spPr>
            <a:xfrm>
              <a:off x="-1020103" y="2731188"/>
              <a:ext cx="9766632" cy="2943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Business insights are tied to desktop software or in-store computers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No real-time access to stock levels, sales, or staff activity remotely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Lack of centralized dashboards across multiple branches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Owners are forced to manage reactively, not proactively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33C31E-0AC6-DA1A-132F-9FA1320E7305}"/>
              </a:ext>
            </a:extLst>
          </p:cNvPr>
          <p:cNvGrpSpPr/>
          <p:nvPr/>
        </p:nvGrpSpPr>
        <p:grpSpPr>
          <a:xfrm>
            <a:off x="-16429923" y="-16883"/>
            <a:ext cx="10943047" cy="6858000"/>
            <a:chOff x="0" y="0"/>
            <a:chExt cx="10943047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2E795D5-A33D-6147-5A7B-E6A1AA8D6F5D}"/>
                </a:ext>
              </a:extLst>
            </p:cNvPr>
            <p:cNvSpPr/>
            <p:nvPr/>
          </p:nvSpPr>
          <p:spPr>
            <a:xfrm>
              <a:off x="0" y="0"/>
              <a:ext cx="10638246" cy="6858000"/>
            </a:xfrm>
            <a:prstGeom prst="rect">
              <a:avLst/>
            </a:prstGeom>
            <a:solidFill>
              <a:srgbClr val="3EC19B"/>
            </a:solidFill>
            <a:ln>
              <a:solidFill>
                <a:srgbClr val="3EC19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5B7F609-D2AE-3641-C442-F87DDC4C071B}"/>
                </a:ext>
              </a:extLst>
            </p:cNvPr>
            <p:cNvSpPr/>
            <p:nvPr/>
          </p:nvSpPr>
          <p:spPr>
            <a:xfrm rot="5400000">
              <a:off x="10333698" y="975109"/>
              <a:ext cx="868178" cy="350520"/>
            </a:xfrm>
            <a:prstGeom prst="triangle">
              <a:avLst/>
            </a:prstGeom>
            <a:solidFill>
              <a:srgbClr val="3EC1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6558A3-E079-AAD5-603F-8880CB75BE19}"/>
                </a:ext>
              </a:extLst>
            </p:cNvPr>
            <p:cNvSpPr txBox="1"/>
            <p:nvPr/>
          </p:nvSpPr>
          <p:spPr>
            <a:xfrm>
              <a:off x="2713084" y="625889"/>
              <a:ext cx="51663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Outdated Pharmacy Point-of-Sale Systems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42C9B9-DB4C-A0B4-33B2-47805CF0F3FD}"/>
                </a:ext>
              </a:extLst>
            </p:cNvPr>
            <p:cNvSpPr txBox="1"/>
            <p:nvPr/>
          </p:nvSpPr>
          <p:spPr>
            <a:xfrm>
              <a:off x="990852" y="2361857"/>
              <a:ext cx="8016240" cy="368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Rely on fixed counter computers and barcode scanners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Limit flexibility, speed, and mobility in daily operations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Ignore advances in AI, mobile computing, and computer vision</a:t>
              </a: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2400" dirty="0"/>
                <a:t>Pharmacies need smarter, portable, and AI-driven solutions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9708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6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78877-7565-6D03-8ABC-4F319591D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16ADD4-8E3A-DB14-857C-50D2C8E91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76000">
                <a:schemeClr val="tx1"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521F27-E5F1-45B4-0844-E4AB69EDEA6E}"/>
              </a:ext>
            </a:extLst>
          </p:cNvPr>
          <p:cNvGrpSpPr/>
          <p:nvPr/>
        </p:nvGrpSpPr>
        <p:grpSpPr>
          <a:xfrm rot="16200000">
            <a:off x="-4302370" y="-709246"/>
            <a:ext cx="8276492" cy="8276492"/>
            <a:chOff x="-4302370" y="-709246"/>
            <a:chExt cx="8276492" cy="8276492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5AF97A31-5870-9EF5-6139-DC00568779B5}"/>
                </a:ext>
              </a:extLst>
            </p:cNvPr>
            <p:cNvSpPr/>
            <p:nvPr/>
          </p:nvSpPr>
          <p:spPr>
            <a:xfrm>
              <a:off x="-4302370" y="-709246"/>
              <a:ext cx="8276492" cy="8276492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C1FABB7-375B-A4F4-2F16-893A369632F6}"/>
                </a:ext>
              </a:extLst>
            </p:cNvPr>
            <p:cNvSpPr txBox="1"/>
            <p:nvPr/>
          </p:nvSpPr>
          <p:spPr>
            <a:xfrm rot="5400000">
              <a:off x="1327319" y="3075056"/>
              <a:ext cx="316586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Requirements</a:t>
              </a:r>
              <a:endPara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1F0E25-AD1A-3BAD-6AC2-BDF21B19C66D}"/>
                </a:ext>
              </a:extLst>
            </p:cNvPr>
            <p:cNvSpPr txBox="1"/>
            <p:nvPr/>
          </p:nvSpPr>
          <p:spPr>
            <a:xfrm rot="10800000">
              <a:off x="-2092698" y="6148754"/>
              <a:ext cx="3857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Owner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00CA6D-A52B-AF89-3111-7DFED8D35B61}"/>
                </a:ext>
              </a:extLst>
            </p:cNvPr>
            <p:cNvSpPr txBox="1"/>
            <p:nvPr/>
          </p:nvSpPr>
          <p:spPr>
            <a:xfrm rot="16200000">
              <a:off x="-5082533" y="3075056"/>
              <a:ext cx="3688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Branch Manager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46991F-C6C2-EBDF-3EA1-816870C182C0}"/>
                </a:ext>
              </a:extLst>
            </p:cNvPr>
            <p:cNvSpPr txBox="1"/>
            <p:nvPr/>
          </p:nvSpPr>
          <p:spPr>
            <a:xfrm>
              <a:off x="-2316115" y="-1"/>
              <a:ext cx="4632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employee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48F50672-38D5-627A-5DED-DE03DF37769D}"/>
              </a:ext>
            </a:extLst>
          </p:cNvPr>
          <p:cNvSpPr/>
          <p:nvPr/>
        </p:nvSpPr>
        <p:spPr>
          <a:xfrm rot="2999367">
            <a:off x="-2174633" y="1418491"/>
            <a:ext cx="4021017" cy="4021017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B254F6-CD50-C9AD-06C0-CCC18398A1C5}"/>
              </a:ext>
            </a:extLst>
          </p:cNvPr>
          <p:cNvSpPr txBox="1"/>
          <p:nvPr/>
        </p:nvSpPr>
        <p:spPr>
          <a:xfrm>
            <a:off x="4063849" y="-3660672"/>
            <a:ext cx="8038423" cy="2573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Requirements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Owner Requirements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pharmacy profile and manage multiple branches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and manage employee and manager accounts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stock levels, expiry dates, and profits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real-time sales analytics through a web dashboard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alerts for low stock and soon-to-expire drugs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 Manager Requirements</a:t>
            </a: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the system with branch-restricted login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and manage employees for their branch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employee activity and shift schedules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real-time sales, receipts, inventory, and profits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alerts for near-expiry stock for timely 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Employee Requirements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in through the Android app with a branch-specific account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phone camera to search for or scan drugs (barcode-free detection)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items to cart, adjust quantities, and complete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receipt history for returns or replacements within 14 days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Receive expiry alerts and guidance on shelf arrangement by expiry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83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0" b="-4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FCFEC-D5F2-7178-EB6A-93BE1000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E8B3F1-53DC-6081-7521-1B0C209824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76000">
                <a:schemeClr val="tx1"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4C7CBD2-AB62-52EE-B106-85AD40B980BD}"/>
              </a:ext>
            </a:extLst>
          </p:cNvPr>
          <p:cNvGrpSpPr/>
          <p:nvPr/>
        </p:nvGrpSpPr>
        <p:grpSpPr>
          <a:xfrm rot="10800000">
            <a:off x="-4302370" y="-709246"/>
            <a:ext cx="8276492" cy="8276492"/>
            <a:chOff x="-4302370" y="-709246"/>
            <a:chExt cx="8276492" cy="8276492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4042301C-92EE-691B-571F-ED42D35A3BC6}"/>
                </a:ext>
              </a:extLst>
            </p:cNvPr>
            <p:cNvSpPr/>
            <p:nvPr/>
          </p:nvSpPr>
          <p:spPr>
            <a:xfrm>
              <a:off x="-4302370" y="-709246"/>
              <a:ext cx="8276492" cy="8276492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CD9978-1B0D-CE06-250E-3EE7E3BCCDD9}"/>
                </a:ext>
              </a:extLst>
            </p:cNvPr>
            <p:cNvSpPr txBox="1"/>
            <p:nvPr/>
          </p:nvSpPr>
          <p:spPr>
            <a:xfrm rot="5400000">
              <a:off x="1327319" y="3075056"/>
              <a:ext cx="316586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Requirements</a:t>
              </a:r>
              <a:endPara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BD1FD9-DD2D-000A-1051-FAE8F1AAEAAB}"/>
                </a:ext>
              </a:extLst>
            </p:cNvPr>
            <p:cNvSpPr txBox="1"/>
            <p:nvPr/>
          </p:nvSpPr>
          <p:spPr>
            <a:xfrm rot="10800000">
              <a:off x="-2092698" y="6148754"/>
              <a:ext cx="3857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Owner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DBDFAB-FD45-B60A-9AB5-9035CDBC9E10}"/>
                </a:ext>
              </a:extLst>
            </p:cNvPr>
            <p:cNvSpPr txBox="1"/>
            <p:nvPr/>
          </p:nvSpPr>
          <p:spPr>
            <a:xfrm rot="16200000">
              <a:off x="-5082533" y="3075056"/>
              <a:ext cx="3688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Branch Manager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8A2A54-B68E-317A-E3EF-E0C92EE7B30A}"/>
                </a:ext>
              </a:extLst>
            </p:cNvPr>
            <p:cNvSpPr txBox="1"/>
            <p:nvPr/>
          </p:nvSpPr>
          <p:spPr>
            <a:xfrm>
              <a:off x="-2316115" y="-1"/>
              <a:ext cx="4632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employee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E2B37860-CFE8-C0EC-934A-1F5C7EAC8409}"/>
              </a:ext>
            </a:extLst>
          </p:cNvPr>
          <p:cNvSpPr/>
          <p:nvPr/>
        </p:nvSpPr>
        <p:spPr>
          <a:xfrm rot="5400000">
            <a:off x="-2174633" y="1418491"/>
            <a:ext cx="4021017" cy="4021017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DBC209-64B6-DB28-B996-3F4F016A9DB2}"/>
              </a:ext>
            </a:extLst>
          </p:cNvPr>
          <p:cNvSpPr txBox="1"/>
          <p:nvPr/>
        </p:nvSpPr>
        <p:spPr>
          <a:xfrm>
            <a:off x="4063849" y="-10838712"/>
            <a:ext cx="8038423" cy="2573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Requirements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Owner Requirements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pharmacy profile and manage multiple branches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and manage employee and manager accounts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stock levels, expiry dates, and profits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real-time sales analytics through a web dashboard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alerts for low stock and soon-to-expire drugs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 Manager Requirements</a:t>
            </a: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the system with branch-restricted login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and manage employees for their branch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employee activity and shift schedules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real-time sales, receipts, inventory, and profits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alerts for near-expiry stock for timely 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Employee Requirements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in through the Android app with a branch-specific account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phone camera to search for or scan drugs (barcode-free detection)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items to cart, adjust quantities, and complete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receipt history for returns or replacements within 14 days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Receive expiry alerts and guidance on shelf arrangement by expiry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499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D0724-8D8D-1FA1-F579-2E6F2A68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464480-C61F-8ED6-B5DB-447DE5EBC3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76000">
                <a:schemeClr val="tx1"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52A01E7-2B30-CD3D-2096-EEA2E5D1F1C0}"/>
              </a:ext>
            </a:extLst>
          </p:cNvPr>
          <p:cNvGrpSpPr/>
          <p:nvPr/>
        </p:nvGrpSpPr>
        <p:grpSpPr>
          <a:xfrm rot="5400000">
            <a:off x="-4302370" y="-709246"/>
            <a:ext cx="8276492" cy="8276492"/>
            <a:chOff x="-4302370" y="-709246"/>
            <a:chExt cx="8276492" cy="8276492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F4F3A2E5-92E4-5D87-3568-8404574B0040}"/>
                </a:ext>
              </a:extLst>
            </p:cNvPr>
            <p:cNvSpPr/>
            <p:nvPr/>
          </p:nvSpPr>
          <p:spPr>
            <a:xfrm>
              <a:off x="-4302370" y="-709246"/>
              <a:ext cx="8276492" cy="8276492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FB8052-5ECB-0835-AD86-98CA6774DEBE}"/>
                </a:ext>
              </a:extLst>
            </p:cNvPr>
            <p:cNvSpPr txBox="1"/>
            <p:nvPr/>
          </p:nvSpPr>
          <p:spPr>
            <a:xfrm rot="5400000">
              <a:off x="1327319" y="3075056"/>
              <a:ext cx="316586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Requirements</a:t>
              </a:r>
              <a:endPara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642BC9-4127-BEFE-3015-251A22B25FCA}"/>
                </a:ext>
              </a:extLst>
            </p:cNvPr>
            <p:cNvSpPr txBox="1"/>
            <p:nvPr/>
          </p:nvSpPr>
          <p:spPr>
            <a:xfrm rot="10800000">
              <a:off x="-2092698" y="6148754"/>
              <a:ext cx="3857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Owner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D62AC6-10DF-037B-9885-19CBB1B93313}"/>
                </a:ext>
              </a:extLst>
            </p:cNvPr>
            <p:cNvSpPr txBox="1"/>
            <p:nvPr/>
          </p:nvSpPr>
          <p:spPr>
            <a:xfrm rot="16200000">
              <a:off x="-5082533" y="3075056"/>
              <a:ext cx="3688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Branch Manager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29864F-9D59-9867-8A2C-B9C4EF8D0DE5}"/>
                </a:ext>
              </a:extLst>
            </p:cNvPr>
            <p:cNvSpPr txBox="1"/>
            <p:nvPr/>
          </p:nvSpPr>
          <p:spPr>
            <a:xfrm>
              <a:off x="-2316115" y="-1"/>
              <a:ext cx="4632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employee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8D3E7C51-7C16-BF5C-8DFC-45659CF1D687}"/>
              </a:ext>
            </a:extLst>
          </p:cNvPr>
          <p:cNvSpPr/>
          <p:nvPr/>
        </p:nvSpPr>
        <p:spPr>
          <a:xfrm rot="8181122">
            <a:off x="-2174633" y="1418491"/>
            <a:ext cx="4021017" cy="4021017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F6B2F6-D828-70B0-9973-9E9517B8AE3E}"/>
              </a:ext>
            </a:extLst>
          </p:cNvPr>
          <p:cNvSpPr txBox="1"/>
          <p:nvPr/>
        </p:nvSpPr>
        <p:spPr>
          <a:xfrm>
            <a:off x="4063849" y="-18793992"/>
            <a:ext cx="8038423" cy="2573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Requirements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Owner Requirements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pharmacy profile and manage multiple branches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and manage employee and manager accounts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stock levels, expiry dates, and profits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real-time sales analytics through a web dashboard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alerts for low stock and soon-to-expire drugs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 Manager Requirements</a:t>
            </a: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the system with branch-restricted login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and manage employees for their branch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employee activity and shift schedules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real-time sales, receipts, inventory, and profits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alerts for near-expiry stock for timely 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Employee Requirements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in through the Android app with a branch-specific account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phone camera to search for or scan drugs (barcode-free detection)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items to cart, adjust quantities, and complete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receipt history for returns or replacements within 14 days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Receive expiry alerts and guidance on shelf arrangement by expiry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13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23579-CC76-4C99-8A8A-7215600D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1613BF1-9D3E-6E56-DCD1-92A098FD2E52}"/>
              </a:ext>
            </a:extLst>
          </p:cNvPr>
          <p:cNvGrpSpPr/>
          <p:nvPr/>
        </p:nvGrpSpPr>
        <p:grpSpPr>
          <a:xfrm rot="5400000">
            <a:off x="-9100527" y="-709246"/>
            <a:ext cx="8276492" cy="8276492"/>
            <a:chOff x="-4302370" y="-709246"/>
            <a:chExt cx="8276492" cy="8276492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B808C18A-8C61-5C37-24CD-D7EAF6863E73}"/>
                </a:ext>
              </a:extLst>
            </p:cNvPr>
            <p:cNvSpPr/>
            <p:nvPr/>
          </p:nvSpPr>
          <p:spPr>
            <a:xfrm>
              <a:off x="-4302370" y="-709246"/>
              <a:ext cx="8276492" cy="8276492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9E7430-5FFD-D8D5-A4A3-7BC24CC9D8B5}"/>
                </a:ext>
              </a:extLst>
            </p:cNvPr>
            <p:cNvSpPr txBox="1"/>
            <p:nvPr/>
          </p:nvSpPr>
          <p:spPr>
            <a:xfrm rot="5400000">
              <a:off x="1327319" y="3075056"/>
              <a:ext cx="316586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Requirements</a:t>
              </a:r>
              <a:endParaRPr lang="en-US" sz="4000" b="1" dirty="0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C3F389-9073-5C13-5282-1E8BCD8E9AC6}"/>
                </a:ext>
              </a:extLst>
            </p:cNvPr>
            <p:cNvSpPr txBox="1"/>
            <p:nvPr/>
          </p:nvSpPr>
          <p:spPr>
            <a:xfrm rot="10800000">
              <a:off x="-2092698" y="6148754"/>
              <a:ext cx="385714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Owner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92951F-968A-97E1-6D48-15FBD39659CD}"/>
                </a:ext>
              </a:extLst>
            </p:cNvPr>
            <p:cNvSpPr txBox="1"/>
            <p:nvPr/>
          </p:nvSpPr>
          <p:spPr>
            <a:xfrm rot="16200000">
              <a:off x="-5082533" y="3075056"/>
              <a:ext cx="36880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Branch Manager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076E7F-69E6-55D7-A868-4935CB28AF8E}"/>
                </a:ext>
              </a:extLst>
            </p:cNvPr>
            <p:cNvSpPr txBox="1"/>
            <p:nvPr/>
          </p:nvSpPr>
          <p:spPr>
            <a:xfrm>
              <a:off x="-2316115" y="-1"/>
              <a:ext cx="463223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Pharmacy employee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DDA8215C-0176-6E5D-E908-634859E9BA9F}"/>
              </a:ext>
            </a:extLst>
          </p:cNvPr>
          <p:cNvSpPr/>
          <p:nvPr/>
        </p:nvSpPr>
        <p:spPr>
          <a:xfrm rot="8181122">
            <a:off x="-6972790" y="1418491"/>
            <a:ext cx="4021017" cy="4021017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0DD515-499E-CB1B-A2A9-43B768AFEAAD}"/>
              </a:ext>
            </a:extLst>
          </p:cNvPr>
          <p:cNvSpPr txBox="1"/>
          <p:nvPr/>
        </p:nvSpPr>
        <p:spPr>
          <a:xfrm>
            <a:off x="4063849" y="-26227206"/>
            <a:ext cx="8038423" cy="25734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Requirements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Owner Requirements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pharmacy profile and manage multiple branches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 and manage employee and manager accounts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stock levels, expiry dates, and profits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real-time sales analytics through a web dashboard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 alerts for low stock and soon-to-expire drugs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Branch Manager Requirements</a:t>
            </a:r>
          </a:p>
          <a:p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the system with branch-restricted login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and manage employees for their branch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Monitor employee activity and shift schedules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real-time sales, receipts, inventory, and profits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 alerts for near-expiry stock for timely action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36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Pharmacy Employee Requirements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 in through the Android app with a branch-specific account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phone camera to search for or scan drugs (barcode-free detection)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 items to cart, adjust quantities, and complete sales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receipt history for returns or replacements within 14 days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Receive expiry alerts and guidance on shelf arrangement by expiry date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294E7A-D067-BF1D-BCD6-978AAFFD9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0808"/>
            <a:ext cx="12192000" cy="81388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40BFAC-B275-A229-7940-CAF1DD6798BB}"/>
              </a:ext>
            </a:extLst>
          </p:cNvPr>
          <p:cNvSpPr txBox="1"/>
          <p:nvPr/>
        </p:nvSpPr>
        <p:spPr>
          <a:xfrm>
            <a:off x="1798320" y="243864"/>
            <a:ext cx="4815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826A6-D5B5-097D-1F87-6ABBB5FC6F6A}"/>
              </a:ext>
            </a:extLst>
          </p:cNvPr>
          <p:cNvSpPr txBox="1"/>
          <p:nvPr/>
        </p:nvSpPr>
        <p:spPr>
          <a:xfrm>
            <a:off x="1023469" y="1996180"/>
            <a:ext cx="6080760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this section, I will walk you through the methodology behind developing the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We’ll explore the technical decisions, data preparation steps, and model deployment strategies.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explanation is based on the detailed “System Explanation” page from the website.</a:t>
            </a:r>
          </a:p>
        </p:txBody>
      </p:sp>
    </p:spTree>
    <p:extLst>
      <p:ext uri="{BB962C8B-B14F-4D97-AF65-F5344CB8AC3E}">
        <p14:creationId xmlns:p14="http://schemas.microsoft.com/office/powerpoint/2010/main" val="362569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0B79CC-742C-C3AB-4E68-F0C90864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63D8C-6AC5-7DAF-0447-83A7E2331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0808"/>
            <a:ext cx="12192000" cy="8138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401" y="-479187"/>
            <a:ext cx="56768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Forntend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Implementation​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401" y="635000"/>
            <a:ext cx="103250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/>
              <a:t>Core Frameworks &amp; Languages:</a:t>
            </a:r>
            <a:r>
              <a:rPr lang="en-US" sz="2400" dirty="0"/>
              <a:t>​</a:t>
            </a:r>
            <a:br>
              <a:rPr lang="en-US" sz="2400" dirty="0"/>
            </a:br>
            <a:r>
              <a:rPr lang="en-US" sz="2400" b="1" dirty="0"/>
              <a:t>The project is built using React</a:t>
            </a:r>
            <a:r>
              <a:rPr lang="en-US" sz="2400" dirty="0"/>
              <a:t>, </a:t>
            </a:r>
            <a:r>
              <a:rPr lang="en-US" sz="2400" b="1" dirty="0" err="1"/>
              <a:t>TypeScript</a:t>
            </a:r>
            <a:r>
              <a:rPr lang="en-US" sz="2400" dirty="0"/>
              <a:t>, and </a:t>
            </a:r>
            <a:r>
              <a:rPr lang="en-US" sz="2400" b="1" dirty="0" err="1"/>
              <a:t>Vite</a:t>
            </a:r>
            <a:r>
              <a:rPr lang="en-US" sz="2400" dirty="0"/>
              <a:t> for fast and modern frontend development.​</a:t>
            </a:r>
          </a:p>
          <a:p>
            <a:pPr fontAlgn="base"/>
            <a:r>
              <a:rPr lang="en-US" sz="2400" b="1" dirty="0"/>
              <a:t>Styling &amp; UI Components:</a:t>
            </a:r>
            <a:r>
              <a:rPr lang="en-US" sz="2400" dirty="0"/>
              <a:t>​</a:t>
            </a:r>
            <a:br>
              <a:rPr lang="en-US" sz="2400" dirty="0"/>
            </a:br>
            <a:r>
              <a:rPr lang="en-US" sz="2400" b="1" dirty="0"/>
              <a:t>Tailwind CSS</a:t>
            </a:r>
            <a:r>
              <a:rPr lang="en-US" sz="2400" dirty="0"/>
              <a:t> is used for utility-first styling, and </a:t>
            </a:r>
            <a:r>
              <a:rPr lang="en-US" sz="2400" b="1" dirty="0" err="1"/>
              <a:t>Shadcn</a:t>
            </a:r>
            <a:r>
              <a:rPr lang="en-US" sz="2400" dirty="0"/>
              <a:t> provides accessible and customizable UI components.​</a:t>
            </a:r>
          </a:p>
          <a:p>
            <a:pPr fontAlgn="base"/>
            <a:r>
              <a:rPr lang="en-US" sz="2400" b="1" dirty="0"/>
              <a:t>Routing &amp; State Management:</a:t>
            </a:r>
            <a:r>
              <a:rPr lang="en-US" sz="2400" dirty="0"/>
              <a:t>​</a:t>
            </a:r>
            <a:br>
              <a:rPr lang="en-US" sz="2400" dirty="0"/>
            </a:br>
            <a:r>
              <a:rPr lang="en-US" sz="2400" b="1" dirty="0"/>
              <a:t>It includes React Router</a:t>
            </a:r>
            <a:r>
              <a:rPr lang="en-US" sz="2400" dirty="0"/>
              <a:t> for navigation and uses both </a:t>
            </a:r>
            <a:r>
              <a:rPr lang="en-US" sz="2400" b="1" dirty="0" err="1"/>
              <a:t>Zustand</a:t>
            </a:r>
            <a:r>
              <a:rPr lang="en-US" sz="2400" dirty="0"/>
              <a:t> and </a:t>
            </a:r>
            <a:r>
              <a:rPr lang="en-US" sz="2400" b="1" dirty="0"/>
              <a:t>Context API</a:t>
            </a:r>
            <a:r>
              <a:rPr lang="en-US" sz="2400" dirty="0"/>
              <a:t> for managing application state.​</a:t>
            </a:r>
          </a:p>
          <a:p>
            <a:pPr fontAlgn="base"/>
            <a:r>
              <a:rPr lang="en-US" sz="2400" b="1" dirty="0"/>
              <a:t>Data Handling &amp; Forms:</a:t>
            </a:r>
            <a:r>
              <a:rPr lang="en-US" sz="2400" dirty="0"/>
              <a:t>​</a:t>
            </a:r>
            <a:br>
              <a:rPr lang="en-US" sz="2400" dirty="0"/>
            </a:br>
            <a:r>
              <a:rPr lang="en-US" sz="2400" b="1" dirty="0" err="1"/>
              <a:t>TanStack</a:t>
            </a:r>
            <a:r>
              <a:rPr lang="en-US" sz="2400" b="1" dirty="0"/>
              <a:t> Query</a:t>
            </a:r>
            <a:r>
              <a:rPr lang="en-US" sz="2400" dirty="0"/>
              <a:t> manages server state and </a:t>
            </a:r>
            <a:r>
              <a:rPr lang="en-US" sz="2400" dirty="0" err="1"/>
              <a:t>async</a:t>
            </a:r>
            <a:r>
              <a:rPr lang="en-US" sz="2400" dirty="0"/>
              <a:t> data, while </a:t>
            </a:r>
            <a:r>
              <a:rPr lang="en-US" sz="2400" b="1" dirty="0"/>
              <a:t>React Hook Form</a:t>
            </a:r>
            <a:r>
              <a:rPr lang="en-US" sz="2400" dirty="0"/>
              <a:t> and </a:t>
            </a:r>
            <a:r>
              <a:rPr lang="en-US" sz="2400" b="1" dirty="0" err="1"/>
              <a:t>Zod</a:t>
            </a:r>
            <a:r>
              <a:rPr lang="en-US" sz="2400" dirty="0"/>
              <a:t> handle form validation and schema parsing.​</a:t>
            </a:r>
          </a:p>
          <a:p>
            <a:pPr fontAlgn="base"/>
            <a:r>
              <a:rPr lang="en-US" sz="2400" b="1" dirty="0"/>
              <a:t>Animations &amp; User Experience:</a:t>
            </a:r>
            <a:r>
              <a:rPr lang="en-US" sz="2400" dirty="0"/>
              <a:t>​</a:t>
            </a:r>
            <a:br>
              <a:rPr lang="en-US" sz="2400" dirty="0"/>
            </a:br>
            <a:r>
              <a:rPr lang="en-US" sz="2400" b="1" dirty="0"/>
              <a:t>Framer Motion</a:t>
            </a:r>
            <a:r>
              <a:rPr lang="en-US" sz="2400" dirty="0"/>
              <a:t> is used to create smooth animations and enhance the interactivity of the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AFFE4-DA6A-E3F7-6E7D-03B6863E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BA5F01-D5FB-7E20-61BF-09F00D4F6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0808"/>
            <a:ext cx="12192000" cy="8138808"/>
          </a:xfrm>
          <a:prstGeom prst="rect">
            <a:avLst/>
          </a:prstGeom>
        </p:spPr>
      </p:pic>
      <p:sp>
        <p:nvSpPr>
          <p:cNvPr id="2" name="Google Shape;1429;p82">
            <a:extLst>
              <a:ext uri="{FF2B5EF4-FFF2-40B4-BE49-F238E27FC236}">
                <a16:creationId xmlns:a16="http://schemas.microsoft.com/office/drawing/2014/main" id="{C5540E1B-3DE7-F248-25DF-4EEDEDFA2789}"/>
              </a:ext>
            </a:extLst>
          </p:cNvPr>
          <p:cNvSpPr txBox="1">
            <a:spLocks/>
          </p:cNvSpPr>
          <p:nvPr/>
        </p:nvSpPr>
        <p:spPr>
          <a:xfrm flipH="1">
            <a:off x="1394892" y="888348"/>
            <a:ext cx="10102000" cy="855200"/>
          </a:xfrm>
          <a:prstGeom prst="rect">
            <a:avLst/>
          </a:prstGeom>
        </p:spPr>
        <p:txBody>
          <a:bodyPr spcFirstLastPara="1" vert="horz" wrap="square" lIns="365733" tIns="121900" rIns="121900" bIns="1219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Data Flow Architecture</a:t>
            </a:r>
            <a:endParaRPr lang="en-US" dirty="0"/>
          </a:p>
        </p:txBody>
      </p:sp>
      <p:pic>
        <p:nvPicPr>
          <p:cNvPr id="4" name="Google Shape;1439;p82">
            <a:extLst>
              <a:ext uri="{FF2B5EF4-FFF2-40B4-BE49-F238E27FC236}">
                <a16:creationId xmlns:a16="http://schemas.microsoft.com/office/drawing/2014/main" id="{04078FBC-6089-3BFC-7319-7B11CB455E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043" y="1812635"/>
            <a:ext cx="7707132" cy="4708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021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DE67DD-E5DF-9AC0-EBEC-D205B944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75DA29-1DE9-0948-84C3-343241940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0808"/>
            <a:ext cx="12192000" cy="8138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862E69-D341-887A-5A76-03680D02B0B4}"/>
              </a:ext>
            </a:extLst>
          </p:cNvPr>
          <p:cNvSpPr txBox="1"/>
          <p:nvPr/>
        </p:nvSpPr>
        <p:spPr>
          <a:xfrm>
            <a:off x="502418" y="542611"/>
            <a:ext cx="9043517" cy="474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Android Implementation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Using MVVM and MVI architecture for clean structure and navigation.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Binding simplifies UI updates with </a:t>
            </a:r>
            <a:r>
              <a:rPr lang="en-US" sz="2000" dirty="0" err="1"/>
              <a:t>ViewModel</a:t>
            </a:r>
            <a:r>
              <a:rPr lang="en-US" sz="2000" dirty="0"/>
              <a:t> data.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Coroutines handle asynchronous tasks efficiently.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Implemented Socket Web Service to communicate with the AI model.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Applied </a:t>
            </a:r>
            <a:r>
              <a:rPr lang="en-US" sz="2000" dirty="0" err="1"/>
              <a:t>DiffUtil</a:t>
            </a:r>
            <a:r>
              <a:rPr lang="en-US" sz="2000" dirty="0"/>
              <a:t> for optimized </a:t>
            </a:r>
            <a:r>
              <a:rPr lang="en-US" sz="2000" dirty="0" err="1"/>
              <a:t>RecyclerView</a:t>
            </a:r>
            <a:r>
              <a:rPr lang="en-US" sz="2000" dirty="0"/>
              <a:t>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616380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2E407-B0AA-A595-ECF5-4F573832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894B3-E743-E8B1-A61D-E97F10003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0808"/>
            <a:ext cx="12192000" cy="81388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EEE12D-9365-DEE9-514F-2CB11A01B7ED}"/>
              </a:ext>
            </a:extLst>
          </p:cNvPr>
          <p:cNvSpPr txBox="1"/>
          <p:nvPr/>
        </p:nvSpPr>
        <p:spPr>
          <a:xfrm>
            <a:off x="487680" y="812899"/>
            <a:ext cx="783336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Process</a:t>
            </a:r>
          </a:p>
          <a:p>
            <a:endParaRPr lang="en-US" dirty="0"/>
          </a:p>
          <a:p>
            <a:r>
              <a:rPr lang="en-US" sz="2000" dirty="0"/>
              <a:t>Building a Comprehensive Drug Dataset</a:t>
            </a:r>
          </a:p>
          <a:p>
            <a:endParaRPr lang="en-US" sz="2000" dirty="0"/>
          </a:p>
          <a:p>
            <a:r>
              <a:rPr lang="en-US" sz="2000" b="1" dirty="0"/>
              <a:t>Web Scraping the Egyptian Drug Authority</a:t>
            </a:r>
          </a:p>
          <a:p>
            <a:r>
              <a:rPr lang="en-US" sz="2000" dirty="0"/>
              <a:t>Scraped the official database to collect 11,639 unique drug entries including names and forms.</a:t>
            </a:r>
          </a:p>
          <a:p>
            <a:r>
              <a:rPr lang="en-US" sz="2000" dirty="0"/>
              <a:t>Enabled full market coverage for identification and stock tracking.</a:t>
            </a:r>
          </a:p>
          <a:p>
            <a:endParaRPr lang="en-US" sz="2000" dirty="0"/>
          </a:p>
          <a:p>
            <a:r>
              <a:rPr lang="en-US" sz="2000" b="1" dirty="0"/>
              <a:t>Image Scraping from Google Search</a:t>
            </a:r>
          </a:p>
          <a:p>
            <a:r>
              <a:rPr lang="en-US" sz="2000" dirty="0"/>
              <a:t>Used SERP API to collect drug packaging photos automatically.</a:t>
            </a:r>
          </a:p>
          <a:p>
            <a:r>
              <a:rPr lang="en-US" sz="2000" dirty="0"/>
              <a:t>Many results were irrelevant or too similar, risking model overfitting.</a:t>
            </a:r>
          </a:p>
          <a:p>
            <a:endParaRPr lang="en-US" sz="2000" dirty="0"/>
          </a:p>
          <a:p>
            <a:r>
              <a:rPr lang="en-US" sz="2000" b="1" dirty="0"/>
              <a:t>Manual Drug Photo Capturing</a:t>
            </a:r>
          </a:p>
          <a:p>
            <a:r>
              <a:rPr lang="en-US" sz="2000" dirty="0"/>
              <a:t>Captured over 2,000 images of real drug packages using a phone camera.</a:t>
            </a:r>
          </a:p>
          <a:p>
            <a:r>
              <a:rPr lang="en-US" sz="2000" dirty="0"/>
              <a:t>Ensured diverse, accurate, and high-quality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2073642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8BA35-FE7C-9819-578A-56FC2082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F2189-B5B7-E31A-4C46-AF64F400D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403469"/>
            <a:ext cx="19865789" cy="132614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E1CB9-DBEA-F84F-EF53-3884260A7ED5}"/>
              </a:ext>
            </a:extLst>
          </p:cNvPr>
          <p:cNvSpPr txBox="1"/>
          <p:nvPr/>
        </p:nvSpPr>
        <p:spPr>
          <a:xfrm>
            <a:off x="254597" y="812899"/>
            <a:ext cx="783336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with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endParaRPr lang="en-US" dirty="0"/>
          </a:p>
          <a:p>
            <a:endParaRPr lang="en-US" sz="2000" dirty="0"/>
          </a:p>
          <a:p>
            <a:r>
              <a:rPr lang="en-US" sz="2000" dirty="0"/>
              <a:t>Preparing High-Quality Training Data</a:t>
            </a:r>
          </a:p>
          <a:p>
            <a:endParaRPr lang="en-US" sz="2000" dirty="0"/>
          </a:p>
          <a:p>
            <a:r>
              <a:rPr lang="en-US" sz="2000" b="1" dirty="0"/>
              <a:t>Dataset Upload and Organization</a:t>
            </a:r>
          </a:p>
          <a:p>
            <a:r>
              <a:rPr lang="en-US" sz="2000" dirty="0"/>
              <a:t>Collected images (web-scraped + manually captured) were uploaded to </a:t>
            </a:r>
            <a:r>
              <a:rPr lang="en-US" sz="2000" dirty="0" err="1"/>
              <a:t>Roboflow</a:t>
            </a:r>
            <a:r>
              <a:rPr lang="en-US" sz="2000" dirty="0"/>
              <a:t>.</a:t>
            </a:r>
          </a:p>
          <a:p>
            <a:r>
              <a:rPr lang="en-US" sz="2000" dirty="0"/>
              <a:t>Organized by drug class to streamline annotation and versioning.</a:t>
            </a:r>
          </a:p>
          <a:p>
            <a:endParaRPr lang="en-US" sz="2000" dirty="0"/>
          </a:p>
          <a:p>
            <a:r>
              <a:rPr lang="en-US" sz="2000" b="1" dirty="0"/>
              <a:t>Bounding Box Annotation</a:t>
            </a:r>
          </a:p>
          <a:p>
            <a:r>
              <a:rPr lang="en-US" sz="2000" dirty="0"/>
              <a:t>Each drug image was annotated with precise bounding boxes around drug boxes.</a:t>
            </a:r>
            <a:br>
              <a:rPr lang="en-US" sz="2000" dirty="0"/>
            </a:br>
            <a:r>
              <a:rPr lang="en-US" sz="2000" dirty="0"/>
              <a:t>Ensured accurate object localization for the detection model.</a:t>
            </a:r>
          </a:p>
          <a:p>
            <a:endParaRPr lang="en-US" sz="2000" dirty="0"/>
          </a:p>
          <a:p>
            <a:r>
              <a:rPr lang="en-US" sz="2000" b="1" dirty="0"/>
              <a:t>Version Control and Augmentation</a:t>
            </a:r>
          </a:p>
          <a:p>
            <a:r>
              <a:rPr lang="en-US" sz="2000" dirty="0" err="1"/>
              <a:t>Roboflow</a:t>
            </a:r>
            <a:r>
              <a:rPr lang="en-US" sz="2000" dirty="0"/>
              <a:t> was used to generate dataset versions with augmentations.</a:t>
            </a:r>
            <a:br>
              <a:rPr lang="en-US" sz="2000" dirty="0"/>
            </a:br>
            <a:r>
              <a:rPr lang="en-US" sz="2000" dirty="0"/>
              <a:t>Improved generalization through flips, brightness changes, and rotations.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AF77EF-E212-2678-ADD8-C6BFD7D27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553" y="301134"/>
            <a:ext cx="2992419" cy="625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50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C8757-07E5-625B-45D9-DCFDB9DF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005D8D9-6CDA-72D5-9430-511D9E452225}"/>
              </a:ext>
            </a:extLst>
          </p:cNvPr>
          <p:cNvSpPr/>
          <p:nvPr/>
        </p:nvSpPr>
        <p:spPr>
          <a:xfrm>
            <a:off x="3904618" y="1067635"/>
            <a:ext cx="3134579" cy="2286000"/>
          </a:xfrm>
          <a:custGeom>
            <a:avLst/>
            <a:gdLst>
              <a:gd name="connsiteX0" fmla="*/ 2286000 w 3134579"/>
              <a:gd name="connsiteY0" fmla="*/ 1 h 2286000"/>
              <a:gd name="connsiteX1" fmla="*/ 3128542 w 3134579"/>
              <a:gd name="connsiteY1" fmla="*/ 1396187 h 2286000"/>
              <a:gd name="connsiteX2" fmla="*/ 3134579 w 3134579"/>
              <a:gd name="connsiteY2" fmla="*/ 1437422 h 2286000"/>
              <a:gd name="connsiteX3" fmla="*/ 2965786 w 3134579"/>
              <a:gd name="connsiteY3" fmla="*/ 1412711 h 2286000"/>
              <a:gd name="connsiteX4" fmla="*/ 2286000 w 3134579"/>
              <a:gd name="connsiteY4" fmla="*/ 1371601 h 2286000"/>
              <a:gd name="connsiteX5" fmla="*/ 1606214 w 3134579"/>
              <a:gd name="connsiteY5" fmla="*/ 1412711 h 2286000"/>
              <a:gd name="connsiteX6" fmla="*/ 1437421 w 3134579"/>
              <a:gd name="connsiteY6" fmla="*/ 1437422 h 2286000"/>
              <a:gd name="connsiteX7" fmla="*/ 1443458 w 3134579"/>
              <a:gd name="connsiteY7" fmla="*/ 1396187 h 2286000"/>
              <a:gd name="connsiteX8" fmla="*/ 2286000 w 3134579"/>
              <a:gd name="connsiteY8" fmla="*/ 1 h 2286000"/>
              <a:gd name="connsiteX9" fmla="*/ 2286000 w 3134579"/>
              <a:gd name="connsiteY9" fmla="*/ 0 h 2286000"/>
              <a:gd name="connsiteX10" fmla="*/ 1443458 w 3134579"/>
              <a:gd name="connsiteY10" fmla="*/ 1396186 h 2286000"/>
              <a:gd name="connsiteX11" fmla="*/ 1437421 w 3134579"/>
              <a:gd name="connsiteY11" fmla="*/ 1437421 h 2286000"/>
              <a:gd name="connsiteX12" fmla="*/ 1396186 w 3134579"/>
              <a:gd name="connsiteY12" fmla="*/ 1443458 h 2286000"/>
              <a:gd name="connsiteX13" fmla="*/ 0 w 3134579"/>
              <a:gd name="connsiteY13" fmla="*/ 2286000 h 2286000"/>
              <a:gd name="connsiteX14" fmla="*/ 2286000 w 3134579"/>
              <a:gd name="connsiteY1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34579" h="2286000">
                <a:moveTo>
                  <a:pt x="2286000" y="1"/>
                </a:moveTo>
                <a:cubicBezTo>
                  <a:pt x="2664757" y="1"/>
                  <a:pt x="2989729" y="575707"/>
                  <a:pt x="3128542" y="1396187"/>
                </a:cubicBezTo>
                <a:lnTo>
                  <a:pt x="3134579" y="1437422"/>
                </a:lnTo>
                <a:lnTo>
                  <a:pt x="2965786" y="1412711"/>
                </a:lnTo>
                <a:cubicBezTo>
                  <a:pt x="2751042" y="1385994"/>
                  <a:pt x="2522723" y="1371601"/>
                  <a:pt x="2286000" y="1371601"/>
                </a:cubicBezTo>
                <a:cubicBezTo>
                  <a:pt x="2049277" y="1371601"/>
                  <a:pt x="1820958" y="1385994"/>
                  <a:pt x="1606214" y="1412711"/>
                </a:cubicBezTo>
                <a:lnTo>
                  <a:pt x="1437421" y="1437422"/>
                </a:lnTo>
                <a:lnTo>
                  <a:pt x="1443458" y="1396187"/>
                </a:lnTo>
                <a:cubicBezTo>
                  <a:pt x="1582272" y="575707"/>
                  <a:pt x="1907243" y="1"/>
                  <a:pt x="2286000" y="1"/>
                </a:cubicBezTo>
                <a:close/>
                <a:moveTo>
                  <a:pt x="2286000" y="0"/>
                </a:moveTo>
                <a:cubicBezTo>
                  <a:pt x="1907243" y="0"/>
                  <a:pt x="1582272" y="575706"/>
                  <a:pt x="1443458" y="1396186"/>
                </a:cubicBezTo>
                <a:lnTo>
                  <a:pt x="1437421" y="1437421"/>
                </a:lnTo>
                <a:lnTo>
                  <a:pt x="1396186" y="1443458"/>
                </a:lnTo>
                <a:cubicBezTo>
                  <a:pt x="575706" y="1582272"/>
                  <a:pt x="0" y="190724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A8A2D15-57E1-5A01-5C20-728F223FFE28}"/>
              </a:ext>
            </a:extLst>
          </p:cNvPr>
          <p:cNvSpPr/>
          <p:nvPr/>
        </p:nvSpPr>
        <p:spPr>
          <a:xfrm>
            <a:off x="3904617" y="2505057"/>
            <a:ext cx="2286000" cy="3134579"/>
          </a:xfrm>
          <a:custGeom>
            <a:avLst/>
            <a:gdLst>
              <a:gd name="connsiteX0" fmla="*/ 0 w 2286000"/>
              <a:gd name="connsiteY0" fmla="*/ 848579 h 3134579"/>
              <a:gd name="connsiteX1" fmla="*/ 1396186 w 2286000"/>
              <a:gd name="connsiteY1" fmla="*/ 1691121 h 3134579"/>
              <a:gd name="connsiteX2" fmla="*/ 1437421 w 2286000"/>
              <a:gd name="connsiteY2" fmla="*/ 1697158 h 3134579"/>
              <a:gd name="connsiteX3" fmla="*/ 1443458 w 2286000"/>
              <a:gd name="connsiteY3" fmla="*/ 1738393 h 3134579"/>
              <a:gd name="connsiteX4" fmla="*/ 2286000 w 2286000"/>
              <a:gd name="connsiteY4" fmla="*/ 3134579 h 3134579"/>
              <a:gd name="connsiteX5" fmla="*/ 0 w 2286000"/>
              <a:gd name="connsiteY5" fmla="*/ 848579 h 3134579"/>
              <a:gd name="connsiteX6" fmla="*/ 1437422 w 2286000"/>
              <a:gd name="connsiteY6" fmla="*/ 0 h 3134579"/>
              <a:gd name="connsiteX7" fmla="*/ 1412711 w 2286000"/>
              <a:gd name="connsiteY7" fmla="*/ 168793 h 3134579"/>
              <a:gd name="connsiteX8" fmla="*/ 1371601 w 2286000"/>
              <a:gd name="connsiteY8" fmla="*/ 848579 h 3134579"/>
              <a:gd name="connsiteX9" fmla="*/ 1412711 w 2286000"/>
              <a:gd name="connsiteY9" fmla="*/ 1528365 h 3134579"/>
              <a:gd name="connsiteX10" fmla="*/ 1437422 w 2286000"/>
              <a:gd name="connsiteY10" fmla="*/ 1697158 h 3134579"/>
              <a:gd name="connsiteX11" fmla="*/ 1396187 w 2286000"/>
              <a:gd name="connsiteY11" fmla="*/ 1691121 h 3134579"/>
              <a:gd name="connsiteX12" fmla="*/ 1 w 2286000"/>
              <a:gd name="connsiteY12" fmla="*/ 848579 h 3134579"/>
              <a:gd name="connsiteX13" fmla="*/ 1396187 w 2286000"/>
              <a:gd name="connsiteY13" fmla="*/ 6037 h 313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86000" h="3134579">
                <a:moveTo>
                  <a:pt x="0" y="848579"/>
                </a:moveTo>
                <a:cubicBezTo>
                  <a:pt x="0" y="1227336"/>
                  <a:pt x="575706" y="1552308"/>
                  <a:pt x="1396186" y="1691121"/>
                </a:cubicBezTo>
                <a:lnTo>
                  <a:pt x="1437421" y="1697158"/>
                </a:lnTo>
                <a:lnTo>
                  <a:pt x="1443458" y="1738393"/>
                </a:lnTo>
                <a:cubicBezTo>
                  <a:pt x="1582272" y="2558873"/>
                  <a:pt x="1907243" y="3134579"/>
                  <a:pt x="2286000" y="3134579"/>
                </a:cubicBezTo>
                <a:cubicBezTo>
                  <a:pt x="1023477" y="3134579"/>
                  <a:pt x="0" y="2111102"/>
                  <a:pt x="0" y="848579"/>
                </a:cubicBezTo>
                <a:close/>
                <a:moveTo>
                  <a:pt x="1437422" y="0"/>
                </a:moveTo>
                <a:lnTo>
                  <a:pt x="1412711" y="168793"/>
                </a:lnTo>
                <a:cubicBezTo>
                  <a:pt x="1385994" y="383537"/>
                  <a:pt x="1371601" y="611856"/>
                  <a:pt x="1371601" y="848579"/>
                </a:cubicBezTo>
                <a:cubicBezTo>
                  <a:pt x="1371601" y="1085302"/>
                  <a:pt x="1385994" y="1313621"/>
                  <a:pt x="1412711" y="1528365"/>
                </a:cubicBezTo>
                <a:lnTo>
                  <a:pt x="1437422" y="1697158"/>
                </a:lnTo>
                <a:lnTo>
                  <a:pt x="1396187" y="1691121"/>
                </a:lnTo>
                <a:cubicBezTo>
                  <a:pt x="575707" y="1552308"/>
                  <a:pt x="1" y="1227336"/>
                  <a:pt x="1" y="848579"/>
                </a:cubicBezTo>
                <a:cubicBezTo>
                  <a:pt x="1" y="469822"/>
                  <a:pt x="575707" y="144851"/>
                  <a:pt x="1396187" y="6037"/>
                </a:cubicBezTo>
                <a:close/>
              </a:path>
            </a:pathLst>
          </a:custGeom>
          <a:solidFill>
            <a:srgbClr val="3EC19B"/>
          </a:solidFill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922364F-4815-925C-D1CA-94701154105A}"/>
              </a:ext>
            </a:extLst>
          </p:cNvPr>
          <p:cNvSpPr/>
          <p:nvPr/>
        </p:nvSpPr>
        <p:spPr>
          <a:xfrm>
            <a:off x="5342039" y="3353636"/>
            <a:ext cx="3134579" cy="2286001"/>
          </a:xfrm>
          <a:custGeom>
            <a:avLst/>
            <a:gdLst>
              <a:gd name="connsiteX0" fmla="*/ 3134579 w 3134579"/>
              <a:gd name="connsiteY0" fmla="*/ 0 h 2286001"/>
              <a:gd name="connsiteX1" fmla="*/ 1082310 w 3134579"/>
              <a:gd name="connsiteY1" fmla="*/ 2274198 h 2286001"/>
              <a:gd name="connsiteX2" fmla="*/ 848602 w 3134579"/>
              <a:gd name="connsiteY2" fmla="*/ 2285999 h 2286001"/>
              <a:gd name="connsiteX3" fmla="*/ 848579 w 3134579"/>
              <a:gd name="connsiteY3" fmla="*/ 2286001 h 2286001"/>
              <a:gd name="connsiteX4" fmla="*/ 6037 w 3134579"/>
              <a:gd name="connsiteY4" fmla="*/ 889815 h 2286001"/>
              <a:gd name="connsiteX5" fmla="*/ 0 w 3134579"/>
              <a:gd name="connsiteY5" fmla="*/ 848580 h 2286001"/>
              <a:gd name="connsiteX6" fmla="*/ 168793 w 3134579"/>
              <a:gd name="connsiteY6" fmla="*/ 873291 h 2286001"/>
              <a:gd name="connsiteX7" fmla="*/ 848579 w 3134579"/>
              <a:gd name="connsiteY7" fmla="*/ 914401 h 2286001"/>
              <a:gd name="connsiteX8" fmla="*/ 1528365 w 3134579"/>
              <a:gd name="connsiteY8" fmla="*/ 873291 h 2286001"/>
              <a:gd name="connsiteX9" fmla="*/ 1697158 w 3134579"/>
              <a:gd name="connsiteY9" fmla="*/ 848580 h 2286001"/>
              <a:gd name="connsiteX10" fmla="*/ 1697158 w 3134579"/>
              <a:gd name="connsiteY10" fmla="*/ 848579 h 2286001"/>
              <a:gd name="connsiteX11" fmla="*/ 1738393 w 3134579"/>
              <a:gd name="connsiteY11" fmla="*/ 842542 h 2286001"/>
              <a:gd name="connsiteX12" fmla="*/ 3134579 w 3134579"/>
              <a:gd name="connsiteY12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34579" h="2286001">
                <a:moveTo>
                  <a:pt x="3134579" y="0"/>
                </a:moveTo>
                <a:cubicBezTo>
                  <a:pt x="3134579" y="1183616"/>
                  <a:pt x="2235039" y="2157132"/>
                  <a:pt x="1082310" y="2274198"/>
                </a:cubicBezTo>
                <a:lnTo>
                  <a:pt x="848602" y="2285999"/>
                </a:lnTo>
                <a:lnTo>
                  <a:pt x="848579" y="2286001"/>
                </a:lnTo>
                <a:cubicBezTo>
                  <a:pt x="469822" y="2286001"/>
                  <a:pt x="144851" y="1710295"/>
                  <a:pt x="6037" y="889815"/>
                </a:cubicBezTo>
                <a:lnTo>
                  <a:pt x="0" y="848580"/>
                </a:lnTo>
                <a:lnTo>
                  <a:pt x="168793" y="873291"/>
                </a:lnTo>
                <a:cubicBezTo>
                  <a:pt x="383537" y="900009"/>
                  <a:pt x="611856" y="914401"/>
                  <a:pt x="848579" y="914401"/>
                </a:cubicBezTo>
                <a:cubicBezTo>
                  <a:pt x="1085302" y="914401"/>
                  <a:pt x="1313621" y="900009"/>
                  <a:pt x="1528365" y="873291"/>
                </a:cubicBezTo>
                <a:lnTo>
                  <a:pt x="1697158" y="848580"/>
                </a:lnTo>
                <a:lnTo>
                  <a:pt x="1697158" y="848579"/>
                </a:lnTo>
                <a:lnTo>
                  <a:pt x="1738393" y="842542"/>
                </a:lnTo>
                <a:cubicBezTo>
                  <a:pt x="2558873" y="703729"/>
                  <a:pt x="3134579" y="378757"/>
                  <a:pt x="3134579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8E520E1-7D64-8245-C3EE-AB25833D3DA7}"/>
              </a:ext>
            </a:extLst>
          </p:cNvPr>
          <p:cNvSpPr/>
          <p:nvPr/>
        </p:nvSpPr>
        <p:spPr>
          <a:xfrm>
            <a:off x="6190618" y="1067636"/>
            <a:ext cx="2286001" cy="3134579"/>
          </a:xfrm>
          <a:custGeom>
            <a:avLst/>
            <a:gdLst>
              <a:gd name="connsiteX0" fmla="*/ 0 w 2286001"/>
              <a:gd name="connsiteY0" fmla="*/ 0 h 3134579"/>
              <a:gd name="connsiteX1" fmla="*/ 2274198 w 2286001"/>
              <a:gd name="connsiteY1" fmla="*/ 2052270 h 3134579"/>
              <a:gd name="connsiteX2" fmla="*/ 2285999 w 2286001"/>
              <a:gd name="connsiteY2" fmla="*/ 2285978 h 3134579"/>
              <a:gd name="connsiteX3" fmla="*/ 2286001 w 2286001"/>
              <a:gd name="connsiteY3" fmla="*/ 2286000 h 3134579"/>
              <a:gd name="connsiteX4" fmla="*/ 889815 w 2286001"/>
              <a:gd name="connsiteY4" fmla="*/ 3128542 h 3134579"/>
              <a:gd name="connsiteX5" fmla="*/ 848580 w 2286001"/>
              <a:gd name="connsiteY5" fmla="*/ 3134579 h 3134579"/>
              <a:gd name="connsiteX6" fmla="*/ 873291 w 2286001"/>
              <a:gd name="connsiteY6" fmla="*/ 2965786 h 3134579"/>
              <a:gd name="connsiteX7" fmla="*/ 914401 w 2286001"/>
              <a:gd name="connsiteY7" fmla="*/ 2286000 h 3134579"/>
              <a:gd name="connsiteX8" fmla="*/ 873291 w 2286001"/>
              <a:gd name="connsiteY8" fmla="*/ 1606214 h 3134579"/>
              <a:gd name="connsiteX9" fmla="*/ 848580 w 2286001"/>
              <a:gd name="connsiteY9" fmla="*/ 1437421 h 3134579"/>
              <a:gd name="connsiteX10" fmla="*/ 848579 w 2286001"/>
              <a:gd name="connsiteY10" fmla="*/ 1437421 h 3134579"/>
              <a:gd name="connsiteX11" fmla="*/ 842542 w 2286001"/>
              <a:gd name="connsiteY11" fmla="*/ 1396186 h 3134579"/>
              <a:gd name="connsiteX12" fmla="*/ 0 w 2286001"/>
              <a:gd name="connsiteY12" fmla="*/ 0 h 313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86001" h="3134579">
                <a:moveTo>
                  <a:pt x="0" y="0"/>
                </a:moveTo>
                <a:cubicBezTo>
                  <a:pt x="1183616" y="0"/>
                  <a:pt x="2157132" y="899540"/>
                  <a:pt x="2274198" y="2052270"/>
                </a:cubicBezTo>
                <a:lnTo>
                  <a:pt x="2285999" y="2285978"/>
                </a:lnTo>
                <a:lnTo>
                  <a:pt x="2286001" y="2286000"/>
                </a:lnTo>
                <a:cubicBezTo>
                  <a:pt x="2286001" y="2664757"/>
                  <a:pt x="1710295" y="2989729"/>
                  <a:pt x="889815" y="3128542"/>
                </a:cubicBezTo>
                <a:lnTo>
                  <a:pt x="848580" y="3134579"/>
                </a:lnTo>
                <a:lnTo>
                  <a:pt x="873291" y="2965786"/>
                </a:lnTo>
                <a:cubicBezTo>
                  <a:pt x="900009" y="2751042"/>
                  <a:pt x="914401" y="2522723"/>
                  <a:pt x="914401" y="2286000"/>
                </a:cubicBezTo>
                <a:cubicBezTo>
                  <a:pt x="914401" y="2049277"/>
                  <a:pt x="900009" y="1820958"/>
                  <a:pt x="873291" y="1606214"/>
                </a:cubicBezTo>
                <a:lnTo>
                  <a:pt x="848580" y="1437421"/>
                </a:lnTo>
                <a:lnTo>
                  <a:pt x="848579" y="1437421"/>
                </a:lnTo>
                <a:lnTo>
                  <a:pt x="842542" y="1396186"/>
                </a:lnTo>
                <a:cubicBezTo>
                  <a:pt x="703729" y="575706"/>
                  <a:pt x="378757" y="0"/>
                  <a:pt x="0" y="0"/>
                </a:cubicBezTo>
                <a:close/>
              </a:path>
            </a:pathLst>
          </a:custGeom>
          <a:solidFill>
            <a:srgbClr val="3EC19B"/>
          </a:solidFill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3" name="Graphic 52" descr="Hourglass">
            <a:extLst>
              <a:ext uri="{FF2B5EF4-FFF2-40B4-BE49-F238E27FC236}">
                <a16:creationId xmlns:a16="http://schemas.microsoft.com/office/drawing/2014/main" id="{74A3CAF8-FE97-F839-6FB5-2D95D0428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4797" y="4463725"/>
            <a:ext cx="914400" cy="914400"/>
          </a:xfrm>
          <a:prstGeom prst="rect">
            <a:avLst/>
          </a:prstGeom>
        </p:spPr>
      </p:pic>
      <p:pic>
        <p:nvPicPr>
          <p:cNvPr id="55" name="Graphic 54" descr="Eye">
            <a:extLst>
              <a:ext uri="{FF2B5EF4-FFF2-40B4-BE49-F238E27FC236}">
                <a16:creationId xmlns:a16="http://schemas.microsoft.com/office/drawing/2014/main" id="{518B34FC-645B-C0B9-88CD-F6B3CEA4C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0707" y="2362618"/>
            <a:ext cx="914400" cy="914400"/>
          </a:xfrm>
          <a:prstGeom prst="rect">
            <a:avLst/>
          </a:prstGeom>
        </p:spPr>
      </p:pic>
      <p:pic>
        <p:nvPicPr>
          <p:cNvPr id="57" name="Graphic 56" descr="Leaf">
            <a:extLst>
              <a:ext uri="{FF2B5EF4-FFF2-40B4-BE49-F238E27FC236}">
                <a16:creationId xmlns:a16="http://schemas.microsoft.com/office/drawing/2014/main" id="{02307C4F-1D0A-8B48-C11A-D060DB5036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6128" y="3479240"/>
            <a:ext cx="914400" cy="914400"/>
          </a:xfrm>
          <a:prstGeom prst="rect">
            <a:avLst/>
          </a:prstGeom>
        </p:spPr>
      </p:pic>
      <p:pic>
        <p:nvPicPr>
          <p:cNvPr id="59" name="Graphic 58" descr="Clapping hands">
            <a:extLst>
              <a:ext uri="{FF2B5EF4-FFF2-40B4-BE49-F238E27FC236}">
                <a16:creationId xmlns:a16="http://schemas.microsoft.com/office/drawing/2014/main" id="{C819BA26-A45A-E13A-A724-3C547FB84B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2228" y="1286693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CF4036A-1B57-2E03-AB1E-26BA6AE1C3AB}"/>
              </a:ext>
            </a:extLst>
          </p:cNvPr>
          <p:cNvSpPr txBox="1"/>
          <p:nvPr/>
        </p:nvSpPr>
        <p:spPr>
          <a:xfrm>
            <a:off x="8738129" y="851341"/>
            <a:ext cx="31853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EC1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 and Localization</a:t>
            </a:r>
          </a:p>
          <a:p>
            <a:r>
              <a:rPr lang="en-US" dirty="0"/>
              <a:t>Model to detects both the class and exact position of each drug in the image.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A42111-8014-7639-E34D-57A22603B191}"/>
              </a:ext>
            </a:extLst>
          </p:cNvPr>
          <p:cNvSpPr txBox="1"/>
          <p:nvPr/>
        </p:nvSpPr>
        <p:spPr>
          <a:xfrm>
            <a:off x="522052" y="4072346"/>
            <a:ext cx="318532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EC1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Lightweight and Deployable</a:t>
            </a:r>
          </a:p>
          <a:p>
            <a:r>
              <a:rPr lang="en-US" dirty="0"/>
              <a:t>Easily exported to ONNX and deployed on mobile or server.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5A5BCA-F1E7-DC26-C37E-4CDEC2FBF481}"/>
              </a:ext>
            </a:extLst>
          </p:cNvPr>
          <p:cNvSpPr txBox="1"/>
          <p:nvPr/>
        </p:nvSpPr>
        <p:spPr>
          <a:xfrm>
            <a:off x="522052" y="851341"/>
            <a:ext cx="318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Accuracy</a:t>
            </a:r>
          </a:p>
          <a:p>
            <a:r>
              <a:rPr lang="en-US" dirty="0"/>
              <a:t>Easily exported to ONNX and deployed on mobile or server.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21423B-D79B-CFE9-485A-61E92D6E84BC}"/>
              </a:ext>
            </a:extLst>
          </p:cNvPr>
          <p:cNvSpPr txBox="1"/>
          <p:nvPr/>
        </p:nvSpPr>
        <p:spPr>
          <a:xfrm>
            <a:off x="8738129" y="4149289"/>
            <a:ext cx="318532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Speed</a:t>
            </a:r>
          </a:p>
          <a:p>
            <a:r>
              <a:rPr lang="en-US" dirty="0"/>
              <a:t>Optimized  for lightning-fast inference, and perfect for live camera use.</a:t>
            </a:r>
          </a:p>
        </p:txBody>
      </p:sp>
    </p:spTree>
    <p:extLst>
      <p:ext uri="{BB962C8B-B14F-4D97-AF65-F5344CB8AC3E}">
        <p14:creationId xmlns:p14="http://schemas.microsoft.com/office/powerpoint/2010/main" val="3995119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60" grpId="0"/>
      <p:bldP spid="63" grpId="0"/>
      <p:bldP spid="64" grpId="0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9BDF0-FF1A-E805-96B2-C62F6ABD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5D74B5-6668-3318-CD97-FE7632AE39AC}"/>
              </a:ext>
            </a:extLst>
          </p:cNvPr>
          <p:cNvSpPr/>
          <p:nvPr/>
        </p:nvSpPr>
        <p:spPr>
          <a:xfrm>
            <a:off x="3904618" y="1067635"/>
            <a:ext cx="3134579" cy="2286000"/>
          </a:xfrm>
          <a:custGeom>
            <a:avLst/>
            <a:gdLst>
              <a:gd name="connsiteX0" fmla="*/ 2286000 w 3134579"/>
              <a:gd name="connsiteY0" fmla="*/ 1 h 2286000"/>
              <a:gd name="connsiteX1" fmla="*/ 3128542 w 3134579"/>
              <a:gd name="connsiteY1" fmla="*/ 1396187 h 2286000"/>
              <a:gd name="connsiteX2" fmla="*/ 3134579 w 3134579"/>
              <a:gd name="connsiteY2" fmla="*/ 1437422 h 2286000"/>
              <a:gd name="connsiteX3" fmla="*/ 2965786 w 3134579"/>
              <a:gd name="connsiteY3" fmla="*/ 1412711 h 2286000"/>
              <a:gd name="connsiteX4" fmla="*/ 2286000 w 3134579"/>
              <a:gd name="connsiteY4" fmla="*/ 1371601 h 2286000"/>
              <a:gd name="connsiteX5" fmla="*/ 1606214 w 3134579"/>
              <a:gd name="connsiteY5" fmla="*/ 1412711 h 2286000"/>
              <a:gd name="connsiteX6" fmla="*/ 1437421 w 3134579"/>
              <a:gd name="connsiteY6" fmla="*/ 1437422 h 2286000"/>
              <a:gd name="connsiteX7" fmla="*/ 1443458 w 3134579"/>
              <a:gd name="connsiteY7" fmla="*/ 1396187 h 2286000"/>
              <a:gd name="connsiteX8" fmla="*/ 2286000 w 3134579"/>
              <a:gd name="connsiteY8" fmla="*/ 1 h 2286000"/>
              <a:gd name="connsiteX9" fmla="*/ 2286000 w 3134579"/>
              <a:gd name="connsiteY9" fmla="*/ 0 h 2286000"/>
              <a:gd name="connsiteX10" fmla="*/ 1443458 w 3134579"/>
              <a:gd name="connsiteY10" fmla="*/ 1396186 h 2286000"/>
              <a:gd name="connsiteX11" fmla="*/ 1437421 w 3134579"/>
              <a:gd name="connsiteY11" fmla="*/ 1437421 h 2286000"/>
              <a:gd name="connsiteX12" fmla="*/ 1396186 w 3134579"/>
              <a:gd name="connsiteY12" fmla="*/ 1443458 h 2286000"/>
              <a:gd name="connsiteX13" fmla="*/ 0 w 3134579"/>
              <a:gd name="connsiteY13" fmla="*/ 2286000 h 2286000"/>
              <a:gd name="connsiteX14" fmla="*/ 2286000 w 3134579"/>
              <a:gd name="connsiteY1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34579" h="2286000">
                <a:moveTo>
                  <a:pt x="2286000" y="1"/>
                </a:moveTo>
                <a:cubicBezTo>
                  <a:pt x="2664757" y="1"/>
                  <a:pt x="2989729" y="575707"/>
                  <a:pt x="3128542" y="1396187"/>
                </a:cubicBezTo>
                <a:lnTo>
                  <a:pt x="3134579" y="1437422"/>
                </a:lnTo>
                <a:lnTo>
                  <a:pt x="2965786" y="1412711"/>
                </a:lnTo>
                <a:cubicBezTo>
                  <a:pt x="2751042" y="1385994"/>
                  <a:pt x="2522723" y="1371601"/>
                  <a:pt x="2286000" y="1371601"/>
                </a:cubicBezTo>
                <a:cubicBezTo>
                  <a:pt x="2049277" y="1371601"/>
                  <a:pt x="1820958" y="1385994"/>
                  <a:pt x="1606214" y="1412711"/>
                </a:cubicBezTo>
                <a:lnTo>
                  <a:pt x="1437421" y="1437422"/>
                </a:lnTo>
                <a:lnTo>
                  <a:pt x="1443458" y="1396187"/>
                </a:lnTo>
                <a:cubicBezTo>
                  <a:pt x="1582272" y="575707"/>
                  <a:pt x="1907243" y="1"/>
                  <a:pt x="2286000" y="1"/>
                </a:cubicBezTo>
                <a:close/>
                <a:moveTo>
                  <a:pt x="2286000" y="0"/>
                </a:moveTo>
                <a:cubicBezTo>
                  <a:pt x="1907243" y="0"/>
                  <a:pt x="1582272" y="575706"/>
                  <a:pt x="1443458" y="1396186"/>
                </a:cubicBezTo>
                <a:lnTo>
                  <a:pt x="1437421" y="1437421"/>
                </a:lnTo>
                <a:lnTo>
                  <a:pt x="1396186" y="1443458"/>
                </a:lnTo>
                <a:cubicBezTo>
                  <a:pt x="575706" y="1582272"/>
                  <a:pt x="0" y="190724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F22D9C0-EEBB-F44C-1788-BD4B9DCC2F12}"/>
              </a:ext>
            </a:extLst>
          </p:cNvPr>
          <p:cNvSpPr/>
          <p:nvPr/>
        </p:nvSpPr>
        <p:spPr>
          <a:xfrm>
            <a:off x="3904617" y="2505057"/>
            <a:ext cx="2286000" cy="3134579"/>
          </a:xfrm>
          <a:custGeom>
            <a:avLst/>
            <a:gdLst>
              <a:gd name="connsiteX0" fmla="*/ 0 w 2286000"/>
              <a:gd name="connsiteY0" fmla="*/ 848579 h 3134579"/>
              <a:gd name="connsiteX1" fmla="*/ 1396186 w 2286000"/>
              <a:gd name="connsiteY1" fmla="*/ 1691121 h 3134579"/>
              <a:gd name="connsiteX2" fmla="*/ 1437421 w 2286000"/>
              <a:gd name="connsiteY2" fmla="*/ 1697158 h 3134579"/>
              <a:gd name="connsiteX3" fmla="*/ 1443458 w 2286000"/>
              <a:gd name="connsiteY3" fmla="*/ 1738393 h 3134579"/>
              <a:gd name="connsiteX4" fmla="*/ 2286000 w 2286000"/>
              <a:gd name="connsiteY4" fmla="*/ 3134579 h 3134579"/>
              <a:gd name="connsiteX5" fmla="*/ 0 w 2286000"/>
              <a:gd name="connsiteY5" fmla="*/ 848579 h 3134579"/>
              <a:gd name="connsiteX6" fmla="*/ 1437422 w 2286000"/>
              <a:gd name="connsiteY6" fmla="*/ 0 h 3134579"/>
              <a:gd name="connsiteX7" fmla="*/ 1412711 w 2286000"/>
              <a:gd name="connsiteY7" fmla="*/ 168793 h 3134579"/>
              <a:gd name="connsiteX8" fmla="*/ 1371601 w 2286000"/>
              <a:gd name="connsiteY8" fmla="*/ 848579 h 3134579"/>
              <a:gd name="connsiteX9" fmla="*/ 1412711 w 2286000"/>
              <a:gd name="connsiteY9" fmla="*/ 1528365 h 3134579"/>
              <a:gd name="connsiteX10" fmla="*/ 1437422 w 2286000"/>
              <a:gd name="connsiteY10" fmla="*/ 1697158 h 3134579"/>
              <a:gd name="connsiteX11" fmla="*/ 1396187 w 2286000"/>
              <a:gd name="connsiteY11" fmla="*/ 1691121 h 3134579"/>
              <a:gd name="connsiteX12" fmla="*/ 1 w 2286000"/>
              <a:gd name="connsiteY12" fmla="*/ 848579 h 3134579"/>
              <a:gd name="connsiteX13" fmla="*/ 1396187 w 2286000"/>
              <a:gd name="connsiteY13" fmla="*/ 6037 h 313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86000" h="3134579">
                <a:moveTo>
                  <a:pt x="0" y="848579"/>
                </a:moveTo>
                <a:cubicBezTo>
                  <a:pt x="0" y="1227336"/>
                  <a:pt x="575706" y="1552308"/>
                  <a:pt x="1396186" y="1691121"/>
                </a:cubicBezTo>
                <a:lnTo>
                  <a:pt x="1437421" y="1697158"/>
                </a:lnTo>
                <a:lnTo>
                  <a:pt x="1443458" y="1738393"/>
                </a:lnTo>
                <a:cubicBezTo>
                  <a:pt x="1582272" y="2558873"/>
                  <a:pt x="1907243" y="3134579"/>
                  <a:pt x="2286000" y="3134579"/>
                </a:cubicBezTo>
                <a:cubicBezTo>
                  <a:pt x="1023477" y="3134579"/>
                  <a:pt x="0" y="2111102"/>
                  <a:pt x="0" y="848579"/>
                </a:cubicBezTo>
                <a:close/>
                <a:moveTo>
                  <a:pt x="1437422" y="0"/>
                </a:moveTo>
                <a:lnTo>
                  <a:pt x="1412711" y="168793"/>
                </a:lnTo>
                <a:cubicBezTo>
                  <a:pt x="1385994" y="383537"/>
                  <a:pt x="1371601" y="611856"/>
                  <a:pt x="1371601" y="848579"/>
                </a:cubicBezTo>
                <a:cubicBezTo>
                  <a:pt x="1371601" y="1085302"/>
                  <a:pt x="1385994" y="1313621"/>
                  <a:pt x="1412711" y="1528365"/>
                </a:cubicBezTo>
                <a:lnTo>
                  <a:pt x="1437422" y="1697158"/>
                </a:lnTo>
                <a:lnTo>
                  <a:pt x="1396187" y="1691121"/>
                </a:lnTo>
                <a:cubicBezTo>
                  <a:pt x="575707" y="1552308"/>
                  <a:pt x="1" y="1227336"/>
                  <a:pt x="1" y="848579"/>
                </a:cubicBezTo>
                <a:cubicBezTo>
                  <a:pt x="1" y="469822"/>
                  <a:pt x="575707" y="144851"/>
                  <a:pt x="1396187" y="6037"/>
                </a:cubicBezTo>
                <a:close/>
              </a:path>
            </a:pathLst>
          </a:custGeom>
          <a:solidFill>
            <a:srgbClr val="3EC19B"/>
          </a:solidFill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2102965-E95E-DB11-64E9-B5EEC206C9F5}"/>
              </a:ext>
            </a:extLst>
          </p:cNvPr>
          <p:cNvSpPr/>
          <p:nvPr/>
        </p:nvSpPr>
        <p:spPr>
          <a:xfrm>
            <a:off x="5342039" y="3353636"/>
            <a:ext cx="3134579" cy="2286001"/>
          </a:xfrm>
          <a:custGeom>
            <a:avLst/>
            <a:gdLst>
              <a:gd name="connsiteX0" fmla="*/ 3134579 w 3134579"/>
              <a:gd name="connsiteY0" fmla="*/ 0 h 2286001"/>
              <a:gd name="connsiteX1" fmla="*/ 1082310 w 3134579"/>
              <a:gd name="connsiteY1" fmla="*/ 2274198 h 2286001"/>
              <a:gd name="connsiteX2" fmla="*/ 848602 w 3134579"/>
              <a:gd name="connsiteY2" fmla="*/ 2285999 h 2286001"/>
              <a:gd name="connsiteX3" fmla="*/ 848579 w 3134579"/>
              <a:gd name="connsiteY3" fmla="*/ 2286001 h 2286001"/>
              <a:gd name="connsiteX4" fmla="*/ 6037 w 3134579"/>
              <a:gd name="connsiteY4" fmla="*/ 889815 h 2286001"/>
              <a:gd name="connsiteX5" fmla="*/ 0 w 3134579"/>
              <a:gd name="connsiteY5" fmla="*/ 848580 h 2286001"/>
              <a:gd name="connsiteX6" fmla="*/ 168793 w 3134579"/>
              <a:gd name="connsiteY6" fmla="*/ 873291 h 2286001"/>
              <a:gd name="connsiteX7" fmla="*/ 848579 w 3134579"/>
              <a:gd name="connsiteY7" fmla="*/ 914401 h 2286001"/>
              <a:gd name="connsiteX8" fmla="*/ 1528365 w 3134579"/>
              <a:gd name="connsiteY8" fmla="*/ 873291 h 2286001"/>
              <a:gd name="connsiteX9" fmla="*/ 1697158 w 3134579"/>
              <a:gd name="connsiteY9" fmla="*/ 848580 h 2286001"/>
              <a:gd name="connsiteX10" fmla="*/ 1697158 w 3134579"/>
              <a:gd name="connsiteY10" fmla="*/ 848579 h 2286001"/>
              <a:gd name="connsiteX11" fmla="*/ 1738393 w 3134579"/>
              <a:gd name="connsiteY11" fmla="*/ 842542 h 2286001"/>
              <a:gd name="connsiteX12" fmla="*/ 3134579 w 3134579"/>
              <a:gd name="connsiteY12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34579" h="2286001">
                <a:moveTo>
                  <a:pt x="3134579" y="0"/>
                </a:moveTo>
                <a:cubicBezTo>
                  <a:pt x="3134579" y="1183616"/>
                  <a:pt x="2235039" y="2157132"/>
                  <a:pt x="1082310" y="2274198"/>
                </a:cubicBezTo>
                <a:lnTo>
                  <a:pt x="848602" y="2285999"/>
                </a:lnTo>
                <a:lnTo>
                  <a:pt x="848579" y="2286001"/>
                </a:lnTo>
                <a:cubicBezTo>
                  <a:pt x="469822" y="2286001"/>
                  <a:pt x="144851" y="1710295"/>
                  <a:pt x="6037" y="889815"/>
                </a:cubicBezTo>
                <a:lnTo>
                  <a:pt x="0" y="848580"/>
                </a:lnTo>
                <a:lnTo>
                  <a:pt x="168793" y="873291"/>
                </a:lnTo>
                <a:cubicBezTo>
                  <a:pt x="383537" y="900009"/>
                  <a:pt x="611856" y="914401"/>
                  <a:pt x="848579" y="914401"/>
                </a:cubicBezTo>
                <a:cubicBezTo>
                  <a:pt x="1085302" y="914401"/>
                  <a:pt x="1313621" y="900009"/>
                  <a:pt x="1528365" y="873291"/>
                </a:cubicBezTo>
                <a:lnTo>
                  <a:pt x="1697158" y="848580"/>
                </a:lnTo>
                <a:lnTo>
                  <a:pt x="1697158" y="848579"/>
                </a:lnTo>
                <a:lnTo>
                  <a:pt x="1738393" y="842542"/>
                </a:lnTo>
                <a:cubicBezTo>
                  <a:pt x="2558873" y="703729"/>
                  <a:pt x="3134579" y="378757"/>
                  <a:pt x="3134579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7F28C81-FCF5-9DC9-FD74-649FA17B7440}"/>
              </a:ext>
            </a:extLst>
          </p:cNvPr>
          <p:cNvSpPr/>
          <p:nvPr/>
        </p:nvSpPr>
        <p:spPr>
          <a:xfrm>
            <a:off x="6190618" y="1067636"/>
            <a:ext cx="2286001" cy="3134579"/>
          </a:xfrm>
          <a:custGeom>
            <a:avLst/>
            <a:gdLst>
              <a:gd name="connsiteX0" fmla="*/ 0 w 2286001"/>
              <a:gd name="connsiteY0" fmla="*/ 0 h 3134579"/>
              <a:gd name="connsiteX1" fmla="*/ 2274198 w 2286001"/>
              <a:gd name="connsiteY1" fmla="*/ 2052270 h 3134579"/>
              <a:gd name="connsiteX2" fmla="*/ 2285999 w 2286001"/>
              <a:gd name="connsiteY2" fmla="*/ 2285978 h 3134579"/>
              <a:gd name="connsiteX3" fmla="*/ 2286001 w 2286001"/>
              <a:gd name="connsiteY3" fmla="*/ 2286000 h 3134579"/>
              <a:gd name="connsiteX4" fmla="*/ 889815 w 2286001"/>
              <a:gd name="connsiteY4" fmla="*/ 3128542 h 3134579"/>
              <a:gd name="connsiteX5" fmla="*/ 848580 w 2286001"/>
              <a:gd name="connsiteY5" fmla="*/ 3134579 h 3134579"/>
              <a:gd name="connsiteX6" fmla="*/ 873291 w 2286001"/>
              <a:gd name="connsiteY6" fmla="*/ 2965786 h 3134579"/>
              <a:gd name="connsiteX7" fmla="*/ 914401 w 2286001"/>
              <a:gd name="connsiteY7" fmla="*/ 2286000 h 3134579"/>
              <a:gd name="connsiteX8" fmla="*/ 873291 w 2286001"/>
              <a:gd name="connsiteY8" fmla="*/ 1606214 h 3134579"/>
              <a:gd name="connsiteX9" fmla="*/ 848580 w 2286001"/>
              <a:gd name="connsiteY9" fmla="*/ 1437421 h 3134579"/>
              <a:gd name="connsiteX10" fmla="*/ 848579 w 2286001"/>
              <a:gd name="connsiteY10" fmla="*/ 1437421 h 3134579"/>
              <a:gd name="connsiteX11" fmla="*/ 842542 w 2286001"/>
              <a:gd name="connsiteY11" fmla="*/ 1396186 h 3134579"/>
              <a:gd name="connsiteX12" fmla="*/ 0 w 2286001"/>
              <a:gd name="connsiteY12" fmla="*/ 0 h 313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86001" h="3134579">
                <a:moveTo>
                  <a:pt x="0" y="0"/>
                </a:moveTo>
                <a:cubicBezTo>
                  <a:pt x="1183616" y="0"/>
                  <a:pt x="2157132" y="899540"/>
                  <a:pt x="2274198" y="2052270"/>
                </a:cubicBezTo>
                <a:lnTo>
                  <a:pt x="2285999" y="2285978"/>
                </a:lnTo>
                <a:lnTo>
                  <a:pt x="2286001" y="2286000"/>
                </a:lnTo>
                <a:cubicBezTo>
                  <a:pt x="2286001" y="2664757"/>
                  <a:pt x="1710295" y="2989729"/>
                  <a:pt x="889815" y="3128542"/>
                </a:cubicBezTo>
                <a:lnTo>
                  <a:pt x="848580" y="3134579"/>
                </a:lnTo>
                <a:lnTo>
                  <a:pt x="873291" y="2965786"/>
                </a:lnTo>
                <a:cubicBezTo>
                  <a:pt x="900009" y="2751042"/>
                  <a:pt x="914401" y="2522723"/>
                  <a:pt x="914401" y="2286000"/>
                </a:cubicBezTo>
                <a:cubicBezTo>
                  <a:pt x="914401" y="2049277"/>
                  <a:pt x="900009" y="1820958"/>
                  <a:pt x="873291" y="1606214"/>
                </a:cubicBezTo>
                <a:lnTo>
                  <a:pt x="848580" y="1437421"/>
                </a:lnTo>
                <a:lnTo>
                  <a:pt x="848579" y="1437421"/>
                </a:lnTo>
                <a:lnTo>
                  <a:pt x="842542" y="1396186"/>
                </a:lnTo>
                <a:cubicBezTo>
                  <a:pt x="703729" y="575706"/>
                  <a:pt x="378757" y="0"/>
                  <a:pt x="0" y="0"/>
                </a:cubicBezTo>
                <a:close/>
              </a:path>
            </a:pathLst>
          </a:custGeom>
          <a:solidFill>
            <a:srgbClr val="3EC19B"/>
          </a:solidFill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3" name="Graphic 52" descr="Hourglass">
            <a:extLst>
              <a:ext uri="{FF2B5EF4-FFF2-40B4-BE49-F238E27FC236}">
                <a16:creationId xmlns:a16="http://schemas.microsoft.com/office/drawing/2014/main" id="{EDBB015D-3E45-D080-1C1F-B9729A0EA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4797" y="4463725"/>
            <a:ext cx="914400" cy="914400"/>
          </a:xfrm>
          <a:prstGeom prst="rect">
            <a:avLst/>
          </a:prstGeom>
        </p:spPr>
      </p:pic>
      <p:pic>
        <p:nvPicPr>
          <p:cNvPr id="55" name="Graphic 54" descr="Eye">
            <a:extLst>
              <a:ext uri="{FF2B5EF4-FFF2-40B4-BE49-F238E27FC236}">
                <a16:creationId xmlns:a16="http://schemas.microsoft.com/office/drawing/2014/main" id="{13530691-99A4-CE38-9A9B-6A3CD42617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0707" y="2362618"/>
            <a:ext cx="914400" cy="914400"/>
          </a:xfrm>
          <a:prstGeom prst="rect">
            <a:avLst/>
          </a:prstGeom>
        </p:spPr>
      </p:pic>
      <p:pic>
        <p:nvPicPr>
          <p:cNvPr id="57" name="Graphic 56" descr="Leaf">
            <a:extLst>
              <a:ext uri="{FF2B5EF4-FFF2-40B4-BE49-F238E27FC236}">
                <a16:creationId xmlns:a16="http://schemas.microsoft.com/office/drawing/2014/main" id="{8FC88348-9510-8B07-844C-EC1DB0BE1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6128" y="3479240"/>
            <a:ext cx="914400" cy="914400"/>
          </a:xfrm>
          <a:prstGeom prst="rect">
            <a:avLst/>
          </a:prstGeom>
        </p:spPr>
      </p:pic>
      <p:pic>
        <p:nvPicPr>
          <p:cNvPr id="59" name="Graphic 58" descr="Clapping hands">
            <a:extLst>
              <a:ext uri="{FF2B5EF4-FFF2-40B4-BE49-F238E27FC236}">
                <a16:creationId xmlns:a16="http://schemas.microsoft.com/office/drawing/2014/main" id="{EC89C289-E6EA-582E-1A98-4CDD866CC1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92228" y="1286693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5FBBE3A-66F0-C8A8-DAA3-D28FDB577751}"/>
              </a:ext>
            </a:extLst>
          </p:cNvPr>
          <p:cNvSpPr txBox="1"/>
          <p:nvPr/>
        </p:nvSpPr>
        <p:spPr>
          <a:xfrm>
            <a:off x="8738129" y="851341"/>
            <a:ext cx="318532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EC1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 and Localization</a:t>
            </a:r>
          </a:p>
          <a:p>
            <a:r>
              <a:rPr lang="en-US" dirty="0"/>
              <a:t>Model to detects both the class and exact position of each drug in the image.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06F545-FB5E-21A9-480B-F1AC2B2AD467}"/>
              </a:ext>
            </a:extLst>
          </p:cNvPr>
          <p:cNvSpPr txBox="1"/>
          <p:nvPr/>
        </p:nvSpPr>
        <p:spPr>
          <a:xfrm>
            <a:off x="522052" y="4072346"/>
            <a:ext cx="318532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EC1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Lightweight and Deployable</a:t>
            </a:r>
          </a:p>
          <a:p>
            <a:r>
              <a:rPr lang="en-US" dirty="0"/>
              <a:t>Easily exported to ONNX and deployed on mobile or server.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D0DCFC-2168-4A2E-B603-CA4030DEEA61}"/>
              </a:ext>
            </a:extLst>
          </p:cNvPr>
          <p:cNvSpPr txBox="1"/>
          <p:nvPr/>
        </p:nvSpPr>
        <p:spPr>
          <a:xfrm>
            <a:off x="522052" y="851341"/>
            <a:ext cx="31853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Accuracy</a:t>
            </a:r>
          </a:p>
          <a:p>
            <a:r>
              <a:rPr lang="en-US" dirty="0"/>
              <a:t>Easily exported to ONNX and deployed on mobile or server.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7E2601-6A75-D0F6-AD37-91FBD556FA4E}"/>
              </a:ext>
            </a:extLst>
          </p:cNvPr>
          <p:cNvSpPr txBox="1"/>
          <p:nvPr/>
        </p:nvSpPr>
        <p:spPr>
          <a:xfrm>
            <a:off x="8738129" y="4149289"/>
            <a:ext cx="318532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Speed</a:t>
            </a:r>
          </a:p>
          <a:p>
            <a:r>
              <a:rPr lang="en-US" dirty="0"/>
              <a:t>Optimized  for lightning-fast inference, and perfect for live camera use.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E3B4C9-0CC1-78E5-F004-7B7A84393BB3}"/>
              </a:ext>
            </a:extLst>
          </p:cNvPr>
          <p:cNvSpPr txBox="1"/>
          <p:nvPr/>
        </p:nvSpPr>
        <p:spPr>
          <a:xfrm>
            <a:off x="5342038" y="2917422"/>
            <a:ext cx="1697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YOLO</a:t>
            </a:r>
          </a:p>
        </p:txBody>
      </p:sp>
    </p:spTree>
    <p:extLst>
      <p:ext uri="{BB962C8B-B14F-4D97-AF65-F5344CB8AC3E}">
        <p14:creationId xmlns:p14="http://schemas.microsoft.com/office/powerpoint/2010/main" val="881462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A70B6-B949-74D1-77F8-93D81E22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0DD405-5275-546C-6120-DEE75F34213F}"/>
              </a:ext>
            </a:extLst>
          </p:cNvPr>
          <p:cNvSpPr/>
          <p:nvPr/>
        </p:nvSpPr>
        <p:spPr>
          <a:xfrm>
            <a:off x="-50246" y="2341266"/>
            <a:ext cx="3058049" cy="3687745"/>
          </a:xfrm>
          <a:prstGeom prst="roundRect">
            <a:avLst/>
          </a:prstGeom>
          <a:solidFill>
            <a:srgbClr val="AAE4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7242E-BBD5-2D99-5AFB-D1C7D9965BD1}"/>
              </a:ext>
            </a:extLst>
          </p:cNvPr>
          <p:cNvSpPr txBox="1"/>
          <p:nvPr/>
        </p:nvSpPr>
        <p:spPr>
          <a:xfrm>
            <a:off x="579120" y="643347"/>
            <a:ext cx="4460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1643E-2AD6-BFF4-7015-61FE142E018C}"/>
              </a:ext>
            </a:extLst>
          </p:cNvPr>
          <p:cNvSpPr txBox="1"/>
          <p:nvPr/>
        </p:nvSpPr>
        <p:spPr>
          <a:xfrm>
            <a:off x="341639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1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YOLOv11m (60 epochs)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No augmentation used.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0.941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0.91 / 0.90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Box 0.57,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0.44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=0.000196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8CF85-D1AE-F521-ED15-5BD2C9CAF784}"/>
              </a:ext>
            </a:extLst>
          </p:cNvPr>
          <p:cNvSpPr txBox="1"/>
          <p:nvPr/>
        </p:nvSpPr>
        <p:spPr>
          <a:xfrm>
            <a:off x="3039707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2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YOLOv11m (150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Aug: flip, </a:t>
            </a:r>
            <a:r>
              <a:rPr lang="en-US" sz="1600" dirty="0" err="1">
                <a:solidFill>
                  <a:srgbClr val="1F392D"/>
                </a:solidFill>
              </a:rPr>
              <a:t>mixup</a:t>
            </a:r>
            <a:r>
              <a:rPr lang="en-US" sz="1600" dirty="0">
                <a:solidFill>
                  <a:srgbClr val="1F392D"/>
                </a:solidFill>
              </a:rPr>
              <a:t>, rotate.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0.956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0.92 / 0.91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Box 0.60,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0.46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DE828-09A3-51B0-5B34-0BD5BAA43150}"/>
              </a:ext>
            </a:extLst>
          </p:cNvPr>
          <p:cNvSpPr txBox="1"/>
          <p:nvPr/>
        </p:nvSpPr>
        <p:spPr>
          <a:xfrm>
            <a:off x="6106048" y="2503775"/>
            <a:ext cx="2973977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3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YOLOv11s (300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Light model, heavy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endParaRPr lang="en-US" sz="1600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0.977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0.34 (lowest)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SGD,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CC3A0-BF7A-9657-8D9F-D27005D17C40}"/>
              </a:ext>
            </a:extLst>
          </p:cNvPr>
          <p:cNvSpPr txBox="1"/>
          <p:nvPr/>
        </p:nvSpPr>
        <p:spPr>
          <a:xfrm>
            <a:off x="9090073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4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Custom (350 epochs + Aug)Full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r>
              <a:rPr lang="en-US" sz="1600" dirty="0">
                <a:solidFill>
                  <a:srgbClr val="1F392D"/>
                </a:solidFill>
              </a:rPr>
              <a:t> + close mosaic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0.980 (best)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0.29, Box 0.54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=0.0003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BE0CA96-3195-9006-1C13-9B48F44350E6}"/>
              </a:ext>
            </a:extLst>
          </p:cNvPr>
          <p:cNvSpPr/>
          <p:nvPr/>
        </p:nvSpPr>
        <p:spPr>
          <a:xfrm>
            <a:off x="-988170" y="-1723907"/>
            <a:ext cx="3134579" cy="2286000"/>
          </a:xfrm>
          <a:custGeom>
            <a:avLst/>
            <a:gdLst>
              <a:gd name="connsiteX0" fmla="*/ 2286000 w 3134579"/>
              <a:gd name="connsiteY0" fmla="*/ 1 h 2286000"/>
              <a:gd name="connsiteX1" fmla="*/ 3128542 w 3134579"/>
              <a:gd name="connsiteY1" fmla="*/ 1396187 h 2286000"/>
              <a:gd name="connsiteX2" fmla="*/ 3134579 w 3134579"/>
              <a:gd name="connsiteY2" fmla="*/ 1437422 h 2286000"/>
              <a:gd name="connsiteX3" fmla="*/ 2965786 w 3134579"/>
              <a:gd name="connsiteY3" fmla="*/ 1412711 h 2286000"/>
              <a:gd name="connsiteX4" fmla="*/ 2286000 w 3134579"/>
              <a:gd name="connsiteY4" fmla="*/ 1371601 h 2286000"/>
              <a:gd name="connsiteX5" fmla="*/ 1606214 w 3134579"/>
              <a:gd name="connsiteY5" fmla="*/ 1412711 h 2286000"/>
              <a:gd name="connsiteX6" fmla="*/ 1437421 w 3134579"/>
              <a:gd name="connsiteY6" fmla="*/ 1437422 h 2286000"/>
              <a:gd name="connsiteX7" fmla="*/ 1443458 w 3134579"/>
              <a:gd name="connsiteY7" fmla="*/ 1396187 h 2286000"/>
              <a:gd name="connsiteX8" fmla="*/ 2286000 w 3134579"/>
              <a:gd name="connsiteY8" fmla="*/ 1 h 2286000"/>
              <a:gd name="connsiteX9" fmla="*/ 2286000 w 3134579"/>
              <a:gd name="connsiteY9" fmla="*/ 0 h 2286000"/>
              <a:gd name="connsiteX10" fmla="*/ 1443458 w 3134579"/>
              <a:gd name="connsiteY10" fmla="*/ 1396186 h 2286000"/>
              <a:gd name="connsiteX11" fmla="*/ 1437421 w 3134579"/>
              <a:gd name="connsiteY11" fmla="*/ 1437421 h 2286000"/>
              <a:gd name="connsiteX12" fmla="*/ 1396186 w 3134579"/>
              <a:gd name="connsiteY12" fmla="*/ 1443458 h 2286000"/>
              <a:gd name="connsiteX13" fmla="*/ 0 w 3134579"/>
              <a:gd name="connsiteY13" fmla="*/ 2286000 h 2286000"/>
              <a:gd name="connsiteX14" fmla="*/ 2286000 w 3134579"/>
              <a:gd name="connsiteY1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34579" h="2286000">
                <a:moveTo>
                  <a:pt x="2286000" y="1"/>
                </a:moveTo>
                <a:cubicBezTo>
                  <a:pt x="2664757" y="1"/>
                  <a:pt x="2989729" y="575707"/>
                  <a:pt x="3128542" y="1396187"/>
                </a:cubicBezTo>
                <a:lnTo>
                  <a:pt x="3134579" y="1437422"/>
                </a:lnTo>
                <a:lnTo>
                  <a:pt x="2965786" y="1412711"/>
                </a:lnTo>
                <a:cubicBezTo>
                  <a:pt x="2751042" y="1385994"/>
                  <a:pt x="2522723" y="1371601"/>
                  <a:pt x="2286000" y="1371601"/>
                </a:cubicBezTo>
                <a:cubicBezTo>
                  <a:pt x="2049277" y="1371601"/>
                  <a:pt x="1820958" y="1385994"/>
                  <a:pt x="1606214" y="1412711"/>
                </a:cubicBezTo>
                <a:lnTo>
                  <a:pt x="1437421" y="1437422"/>
                </a:lnTo>
                <a:lnTo>
                  <a:pt x="1443458" y="1396187"/>
                </a:lnTo>
                <a:cubicBezTo>
                  <a:pt x="1582272" y="575707"/>
                  <a:pt x="1907243" y="1"/>
                  <a:pt x="2286000" y="1"/>
                </a:cubicBezTo>
                <a:close/>
                <a:moveTo>
                  <a:pt x="2286000" y="0"/>
                </a:moveTo>
                <a:cubicBezTo>
                  <a:pt x="1907243" y="0"/>
                  <a:pt x="1582272" y="575706"/>
                  <a:pt x="1443458" y="1396186"/>
                </a:cubicBezTo>
                <a:lnTo>
                  <a:pt x="1437421" y="1437421"/>
                </a:lnTo>
                <a:lnTo>
                  <a:pt x="1396186" y="1443458"/>
                </a:lnTo>
                <a:cubicBezTo>
                  <a:pt x="575706" y="1582272"/>
                  <a:pt x="0" y="190724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964BD0E-CF27-A124-E497-5E42DE483AD2}"/>
              </a:ext>
            </a:extLst>
          </p:cNvPr>
          <p:cNvSpPr/>
          <p:nvPr/>
        </p:nvSpPr>
        <p:spPr>
          <a:xfrm>
            <a:off x="-1706880" y="5212833"/>
            <a:ext cx="2286000" cy="3134579"/>
          </a:xfrm>
          <a:custGeom>
            <a:avLst/>
            <a:gdLst>
              <a:gd name="connsiteX0" fmla="*/ 0 w 2286000"/>
              <a:gd name="connsiteY0" fmla="*/ 848579 h 3134579"/>
              <a:gd name="connsiteX1" fmla="*/ 1396186 w 2286000"/>
              <a:gd name="connsiteY1" fmla="*/ 1691121 h 3134579"/>
              <a:gd name="connsiteX2" fmla="*/ 1437421 w 2286000"/>
              <a:gd name="connsiteY2" fmla="*/ 1697158 h 3134579"/>
              <a:gd name="connsiteX3" fmla="*/ 1443458 w 2286000"/>
              <a:gd name="connsiteY3" fmla="*/ 1738393 h 3134579"/>
              <a:gd name="connsiteX4" fmla="*/ 2286000 w 2286000"/>
              <a:gd name="connsiteY4" fmla="*/ 3134579 h 3134579"/>
              <a:gd name="connsiteX5" fmla="*/ 0 w 2286000"/>
              <a:gd name="connsiteY5" fmla="*/ 848579 h 3134579"/>
              <a:gd name="connsiteX6" fmla="*/ 1437422 w 2286000"/>
              <a:gd name="connsiteY6" fmla="*/ 0 h 3134579"/>
              <a:gd name="connsiteX7" fmla="*/ 1412711 w 2286000"/>
              <a:gd name="connsiteY7" fmla="*/ 168793 h 3134579"/>
              <a:gd name="connsiteX8" fmla="*/ 1371601 w 2286000"/>
              <a:gd name="connsiteY8" fmla="*/ 848579 h 3134579"/>
              <a:gd name="connsiteX9" fmla="*/ 1412711 w 2286000"/>
              <a:gd name="connsiteY9" fmla="*/ 1528365 h 3134579"/>
              <a:gd name="connsiteX10" fmla="*/ 1437422 w 2286000"/>
              <a:gd name="connsiteY10" fmla="*/ 1697158 h 3134579"/>
              <a:gd name="connsiteX11" fmla="*/ 1396187 w 2286000"/>
              <a:gd name="connsiteY11" fmla="*/ 1691121 h 3134579"/>
              <a:gd name="connsiteX12" fmla="*/ 1 w 2286000"/>
              <a:gd name="connsiteY12" fmla="*/ 848579 h 3134579"/>
              <a:gd name="connsiteX13" fmla="*/ 1396187 w 2286000"/>
              <a:gd name="connsiteY13" fmla="*/ 6037 h 313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86000" h="3134579">
                <a:moveTo>
                  <a:pt x="0" y="848579"/>
                </a:moveTo>
                <a:cubicBezTo>
                  <a:pt x="0" y="1227336"/>
                  <a:pt x="575706" y="1552308"/>
                  <a:pt x="1396186" y="1691121"/>
                </a:cubicBezTo>
                <a:lnTo>
                  <a:pt x="1437421" y="1697158"/>
                </a:lnTo>
                <a:lnTo>
                  <a:pt x="1443458" y="1738393"/>
                </a:lnTo>
                <a:cubicBezTo>
                  <a:pt x="1582272" y="2558873"/>
                  <a:pt x="1907243" y="3134579"/>
                  <a:pt x="2286000" y="3134579"/>
                </a:cubicBezTo>
                <a:cubicBezTo>
                  <a:pt x="1023477" y="3134579"/>
                  <a:pt x="0" y="2111102"/>
                  <a:pt x="0" y="848579"/>
                </a:cubicBezTo>
                <a:close/>
                <a:moveTo>
                  <a:pt x="1437422" y="0"/>
                </a:moveTo>
                <a:lnTo>
                  <a:pt x="1412711" y="168793"/>
                </a:lnTo>
                <a:cubicBezTo>
                  <a:pt x="1385994" y="383537"/>
                  <a:pt x="1371601" y="611856"/>
                  <a:pt x="1371601" y="848579"/>
                </a:cubicBezTo>
                <a:cubicBezTo>
                  <a:pt x="1371601" y="1085302"/>
                  <a:pt x="1385994" y="1313621"/>
                  <a:pt x="1412711" y="1528365"/>
                </a:cubicBezTo>
                <a:lnTo>
                  <a:pt x="1437422" y="1697158"/>
                </a:lnTo>
                <a:lnTo>
                  <a:pt x="1396187" y="1691121"/>
                </a:lnTo>
                <a:cubicBezTo>
                  <a:pt x="575707" y="1552308"/>
                  <a:pt x="1" y="1227336"/>
                  <a:pt x="1" y="848579"/>
                </a:cubicBezTo>
                <a:cubicBezTo>
                  <a:pt x="1" y="469822"/>
                  <a:pt x="575707" y="144851"/>
                  <a:pt x="1396187" y="6037"/>
                </a:cubicBezTo>
                <a:close/>
              </a:path>
            </a:pathLst>
          </a:custGeom>
          <a:solidFill>
            <a:srgbClr val="3EC19B"/>
          </a:solidFill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00BF1AE-02E4-9AFD-E89F-9DD7B3F7542D}"/>
              </a:ext>
            </a:extLst>
          </p:cNvPr>
          <p:cNvSpPr/>
          <p:nvPr/>
        </p:nvSpPr>
        <p:spPr>
          <a:xfrm>
            <a:off x="9684855" y="6322923"/>
            <a:ext cx="3134579" cy="2286001"/>
          </a:xfrm>
          <a:custGeom>
            <a:avLst/>
            <a:gdLst>
              <a:gd name="connsiteX0" fmla="*/ 3134579 w 3134579"/>
              <a:gd name="connsiteY0" fmla="*/ 0 h 2286001"/>
              <a:gd name="connsiteX1" fmla="*/ 1082310 w 3134579"/>
              <a:gd name="connsiteY1" fmla="*/ 2274198 h 2286001"/>
              <a:gd name="connsiteX2" fmla="*/ 848602 w 3134579"/>
              <a:gd name="connsiteY2" fmla="*/ 2285999 h 2286001"/>
              <a:gd name="connsiteX3" fmla="*/ 848579 w 3134579"/>
              <a:gd name="connsiteY3" fmla="*/ 2286001 h 2286001"/>
              <a:gd name="connsiteX4" fmla="*/ 6037 w 3134579"/>
              <a:gd name="connsiteY4" fmla="*/ 889815 h 2286001"/>
              <a:gd name="connsiteX5" fmla="*/ 0 w 3134579"/>
              <a:gd name="connsiteY5" fmla="*/ 848580 h 2286001"/>
              <a:gd name="connsiteX6" fmla="*/ 168793 w 3134579"/>
              <a:gd name="connsiteY6" fmla="*/ 873291 h 2286001"/>
              <a:gd name="connsiteX7" fmla="*/ 848579 w 3134579"/>
              <a:gd name="connsiteY7" fmla="*/ 914401 h 2286001"/>
              <a:gd name="connsiteX8" fmla="*/ 1528365 w 3134579"/>
              <a:gd name="connsiteY8" fmla="*/ 873291 h 2286001"/>
              <a:gd name="connsiteX9" fmla="*/ 1697158 w 3134579"/>
              <a:gd name="connsiteY9" fmla="*/ 848580 h 2286001"/>
              <a:gd name="connsiteX10" fmla="*/ 1697158 w 3134579"/>
              <a:gd name="connsiteY10" fmla="*/ 848579 h 2286001"/>
              <a:gd name="connsiteX11" fmla="*/ 1738393 w 3134579"/>
              <a:gd name="connsiteY11" fmla="*/ 842542 h 2286001"/>
              <a:gd name="connsiteX12" fmla="*/ 3134579 w 3134579"/>
              <a:gd name="connsiteY12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34579" h="2286001">
                <a:moveTo>
                  <a:pt x="3134579" y="0"/>
                </a:moveTo>
                <a:cubicBezTo>
                  <a:pt x="3134579" y="1183616"/>
                  <a:pt x="2235039" y="2157132"/>
                  <a:pt x="1082310" y="2274198"/>
                </a:cubicBezTo>
                <a:lnTo>
                  <a:pt x="848602" y="2285999"/>
                </a:lnTo>
                <a:lnTo>
                  <a:pt x="848579" y="2286001"/>
                </a:lnTo>
                <a:cubicBezTo>
                  <a:pt x="469822" y="2286001"/>
                  <a:pt x="144851" y="1710295"/>
                  <a:pt x="6037" y="889815"/>
                </a:cubicBezTo>
                <a:lnTo>
                  <a:pt x="0" y="848580"/>
                </a:lnTo>
                <a:lnTo>
                  <a:pt x="168793" y="873291"/>
                </a:lnTo>
                <a:cubicBezTo>
                  <a:pt x="383537" y="900009"/>
                  <a:pt x="611856" y="914401"/>
                  <a:pt x="848579" y="914401"/>
                </a:cubicBezTo>
                <a:cubicBezTo>
                  <a:pt x="1085302" y="914401"/>
                  <a:pt x="1313621" y="900009"/>
                  <a:pt x="1528365" y="873291"/>
                </a:cubicBezTo>
                <a:lnTo>
                  <a:pt x="1697158" y="848580"/>
                </a:lnTo>
                <a:lnTo>
                  <a:pt x="1697158" y="848579"/>
                </a:lnTo>
                <a:lnTo>
                  <a:pt x="1738393" y="842542"/>
                </a:lnTo>
                <a:cubicBezTo>
                  <a:pt x="2558873" y="703729"/>
                  <a:pt x="3134579" y="378757"/>
                  <a:pt x="3134579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D72D00-6F94-3603-32C0-F3F5CBBD2BEA}"/>
              </a:ext>
            </a:extLst>
          </p:cNvPr>
          <p:cNvSpPr/>
          <p:nvPr/>
        </p:nvSpPr>
        <p:spPr>
          <a:xfrm>
            <a:off x="11531320" y="-1335925"/>
            <a:ext cx="2286001" cy="3134579"/>
          </a:xfrm>
          <a:custGeom>
            <a:avLst/>
            <a:gdLst>
              <a:gd name="connsiteX0" fmla="*/ 0 w 2286001"/>
              <a:gd name="connsiteY0" fmla="*/ 0 h 3134579"/>
              <a:gd name="connsiteX1" fmla="*/ 2274198 w 2286001"/>
              <a:gd name="connsiteY1" fmla="*/ 2052270 h 3134579"/>
              <a:gd name="connsiteX2" fmla="*/ 2285999 w 2286001"/>
              <a:gd name="connsiteY2" fmla="*/ 2285978 h 3134579"/>
              <a:gd name="connsiteX3" fmla="*/ 2286001 w 2286001"/>
              <a:gd name="connsiteY3" fmla="*/ 2286000 h 3134579"/>
              <a:gd name="connsiteX4" fmla="*/ 889815 w 2286001"/>
              <a:gd name="connsiteY4" fmla="*/ 3128542 h 3134579"/>
              <a:gd name="connsiteX5" fmla="*/ 848580 w 2286001"/>
              <a:gd name="connsiteY5" fmla="*/ 3134579 h 3134579"/>
              <a:gd name="connsiteX6" fmla="*/ 873291 w 2286001"/>
              <a:gd name="connsiteY6" fmla="*/ 2965786 h 3134579"/>
              <a:gd name="connsiteX7" fmla="*/ 914401 w 2286001"/>
              <a:gd name="connsiteY7" fmla="*/ 2286000 h 3134579"/>
              <a:gd name="connsiteX8" fmla="*/ 873291 w 2286001"/>
              <a:gd name="connsiteY8" fmla="*/ 1606214 h 3134579"/>
              <a:gd name="connsiteX9" fmla="*/ 848580 w 2286001"/>
              <a:gd name="connsiteY9" fmla="*/ 1437421 h 3134579"/>
              <a:gd name="connsiteX10" fmla="*/ 848579 w 2286001"/>
              <a:gd name="connsiteY10" fmla="*/ 1437421 h 3134579"/>
              <a:gd name="connsiteX11" fmla="*/ 842542 w 2286001"/>
              <a:gd name="connsiteY11" fmla="*/ 1396186 h 3134579"/>
              <a:gd name="connsiteX12" fmla="*/ 0 w 2286001"/>
              <a:gd name="connsiteY12" fmla="*/ 0 h 3134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86001" h="3134579">
                <a:moveTo>
                  <a:pt x="0" y="0"/>
                </a:moveTo>
                <a:cubicBezTo>
                  <a:pt x="1183616" y="0"/>
                  <a:pt x="2157132" y="899540"/>
                  <a:pt x="2274198" y="2052270"/>
                </a:cubicBezTo>
                <a:lnTo>
                  <a:pt x="2285999" y="2285978"/>
                </a:lnTo>
                <a:lnTo>
                  <a:pt x="2286001" y="2286000"/>
                </a:lnTo>
                <a:cubicBezTo>
                  <a:pt x="2286001" y="2664757"/>
                  <a:pt x="1710295" y="2989729"/>
                  <a:pt x="889815" y="3128542"/>
                </a:cubicBezTo>
                <a:lnTo>
                  <a:pt x="848580" y="3134579"/>
                </a:lnTo>
                <a:lnTo>
                  <a:pt x="873291" y="2965786"/>
                </a:lnTo>
                <a:cubicBezTo>
                  <a:pt x="900009" y="2751042"/>
                  <a:pt x="914401" y="2522723"/>
                  <a:pt x="914401" y="2286000"/>
                </a:cubicBezTo>
                <a:cubicBezTo>
                  <a:pt x="914401" y="2049277"/>
                  <a:pt x="900009" y="1820958"/>
                  <a:pt x="873291" y="1606214"/>
                </a:cubicBezTo>
                <a:lnTo>
                  <a:pt x="848580" y="1437421"/>
                </a:lnTo>
                <a:lnTo>
                  <a:pt x="848579" y="1437421"/>
                </a:lnTo>
                <a:lnTo>
                  <a:pt x="842542" y="1396186"/>
                </a:lnTo>
                <a:cubicBezTo>
                  <a:pt x="703729" y="575706"/>
                  <a:pt x="378757" y="0"/>
                  <a:pt x="0" y="0"/>
                </a:cubicBezTo>
                <a:close/>
              </a:path>
            </a:pathLst>
          </a:custGeom>
          <a:solidFill>
            <a:srgbClr val="3EC19B"/>
          </a:solidFill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Graphic 11" descr="Hourglass">
            <a:extLst>
              <a:ext uri="{FF2B5EF4-FFF2-40B4-BE49-F238E27FC236}">
                <a16:creationId xmlns:a16="http://schemas.microsoft.com/office/drawing/2014/main" id="{26DA4CD1-435B-0715-8607-587798D0E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7613" y="7433012"/>
            <a:ext cx="914400" cy="914400"/>
          </a:xfrm>
          <a:prstGeom prst="rect">
            <a:avLst/>
          </a:prstGeom>
        </p:spPr>
      </p:pic>
      <p:pic>
        <p:nvPicPr>
          <p:cNvPr id="13" name="Graphic 12" descr="Eye">
            <a:extLst>
              <a:ext uri="{FF2B5EF4-FFF2-40B4-BE49-F238E27FC236}">
                <a16:creationId xmlns:a16="http://schemas.microsoft.com/office/drawing/2014/main" id="{45E36228-A819-6131-31B7-8864C99C6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41409" y="-40943"/>
            <a:ext cx="914400" cy="914400"/>
          </a:xfrm>
          <a:prstGeom prst="rect">
            <a:avLst/>
          </a:prstGeom>
        </p:spPr>
      </p:pic>
      <p:pic>
        <p:nvPicPr>
          <p:cNvPr id="14" name="Graphic 13" descr="Leaf">
            <a:extLst>
              <a:ext uri="{FF2B5EF4-FFF2-40B4-BE49-F238E27FC236}">
                <a16:creationId xmlns:a16="http://schemas.microsoft.com/office/drawing/2014/main" id="{E2CA1977-DCB8-79C7-AF3A-A965A7C71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445369" y="6187016"/>
            <a:ext cx="914400" cy="914400"/>
          </a:xfrm>
          <a:prstGeom prst="rect">
            <a:avLst/>
          </a:prstGeom>
        </p:spPr>
      </p:pic>
      <p:pic>
        <p:nvPicPr>
          <p:cNvPr id="15" name="Graphic 14" descr="Clapping hands">
            <a:extLst>
              <a:ext uri="{FF2B5EF4-FFF2-40B4-BE49-F238E27FC236}">
                <a16:creationId xmlns:a16="http://schemas.microsoft.com/office/drawing/2014/main" id="{B7E9EDD0-16DE-8D0F-63B7-476E40C619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9440" y="-15048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00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1269C-F104-EBD7-17C0-08A04A906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DAF8A7-97B8-59B7-E44D-7D730ECB69FF}"/>
              </a:ext>
            </a:extLst>
          </p:cNvPr>
          <p:cNvSpPr/>
          <p:nvPr/>
        </p:nvSpPr>
        <p:spPr>
          <a:xfrm>
            <a:off x="2903970" y="2341266"/>
            <a:ext cx="3058049" cy="36877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8272C-6CA1-242F-7FE1-4DF8A7C167C6}"/>
              </a:ext>
            </a:extLst>
          </p:cNvPr>
          <p:cNvSpPr txBox="1"/>
          <p:nvPr/>
        </p:nvSpPr>
        <p:spPr>
          <a:xfrm>
            <a:off x="579120" y="643347"/>
            <a:ext cx="4460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13769-1470-3F6A-89AF-4E31D5F48FD2}"/>
              </a:ext>
            </a:extLst>
          </p:cNvPr>
          <p:cNvSpPr txBox="1"/>
          <p:nvPr/>
        </p:nvSpPr>
        <p:spPr>
          <a:xfrm>
            <a:off x="341639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Model 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YOLOv11m (60 epochs)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No augmentation used.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mAP@50: 0.941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Prec</a:t>
            </a:r>
            <a:r>
              <a:rPr lang="en-US" sz="1600" dirty="0">
                <a:solidFill>
                  <a:schemeClr val="bg1"/>
                </a:solidFill>
              </a:rPr>
              <a:t>/Rec: 0.91 / 0.90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Val Loss: Box 0.57, </a:t>
            </a:r>
            <a:r>
              <a:rPr lang="en-US" sz="1600" dirty="0" err="1">
                <a:solidFill>
                  <a:schemeClr val="bg1"/>
                </a:solidFill>
              </a:rPr>
              <a:t>Cls</a:t>
            </a:r>
            <a:r>
              <a:rPr lang="en-US" sz="1600" dirty="0">
                <a:solidFill>
                  <a:schemeClr val="bg1"/>
                </a:solidFill>
              </a:rPr>
              <a:t> 0.44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AdamW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lr</a:t>
            </a:r>
            <a:r>
              <a:rPr lang="en-US" sz="1600" dirty="0">
                <a:solidFill>
                  <a:schemeClr val="bg1"/>
                </a:solidFill>
              </a:rPr>
              <a:t>=0.000196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5F0C4-D172-E5E0-3C7C-A57909A4C723}"/>
              </a:ext>
            </a:extLst>
          </p:cNvPr>
          <p:cNvSpPr txBox="1"/>
          <p:nvPr/>
        </p:nvSpPr>
        <p:spPr>
          <a:xfrm>
            <a:off x="3039707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2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YOLOv11m (150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Aug: flip, </a:t>
            </a:r>
            <a:r>
              <a:rPr lang="en-US" sz="1600" dirty="0" err="1">
                <a:solidFill>
                  <a:srgbClr val="1F392D"/>
                </a:solidFill>
              </a:rPr>
              <a:t>mixup</a:t>
            </a:r>
            <a:r>
              <a:rPr lang="en-US" sz="1600" dirty="0">
                <a:solidFill>
                  <a:srgbClr val="1F392D"/>
                </a:solidFill>
              </a:rPr>
              <a:t>, rotate.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0.956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0.92 / 0.91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Box 0.60,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0.46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AC7A5-5A48-D390-BE07-6FF9E3274695}"/>
              </a:ext>
            </a:extLst>
          </p:cNvPr>
          <p:cNvSpPr txBox="1"/>
          <p:nvPr/>
        </p:nvSpPr>
        <p:spPr>
          <a:xfrm>
            <a:off x="6106048" y="2503775"/>
            <a:ext cx="2973977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3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YOLOv11s (300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Light model, heavy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endParaRPr lang="en-US" sz="1600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0.977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0.34 (lowest)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SGD,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479D3-E519-B38B-E1FE-1A4AB9E2DA20}"/>
              </a:ext>
            </a:extLst>
          </p:cNvPr>
          <p:cNvSpPr txBox="1"/>
          <p:nvPr/>
        </p:nvSpPr>
        <p:spPr>
          <a:xfrm>
            <a:off x="9090073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4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Custom (350 epochs + Aug)Full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r>
              <a:rPr lang="en-US" sz="1600" dirty="0">
                <a:solidFill>
                  <a:srgbClr val="1F392D"/>
                </a:solidFill>
              </a:rPr>
              <a:t> + close mosaic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0.980 (best)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0.29, Box 0.54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=0.0003</a:t>
            </a:r>
          </a:p>
        </p:txBody>
      </p:sp>
    </p:spTree>
    <p:extLst>
      <p:ext uri="{BB962C8B-B14F-4D97-AF65-F5344CB8AC3E}">
        <p14:creationId xmlns:p14="http://schemas.microsoft.com/office/powerpoint/2010/main" val="3613711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D062D-77A6-F856-6D1D-5260DBBA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2C2FBC-A12D-5F22-7492-1C969328955E}"/>
              </a:ext>
            </a:extLst>
          </p:cNvPr>
          <p:cNvSpPr/>
          <p:nvPr/>
        </p:nvSpPr>
        <p:spPr>
          <a:xfrm>
            <a:off x="5868235" y="2341266"/>
            <a:ext cx="3058049" cy="3687745"/>
          </a:xfrm>
          <a:prstGeom prst="roundRect">
            <a:avLst/>
          </a:prstGeom>
          <a:solidFill>
            <a:srgbClr val="3EC1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9D11A-DC08-9E32-EA6B-DEB4493C6446}"/>
              </a:ext>
            </a:extLst>
          </p:cNvPr>
          <p:cNvSpPr txBox="1"/>
          <p:nvPr/>
        </p:nvSpPr>
        <p:spPr>
          <a:xfrm>
            <a:off x="579120" y="643347"/>
            <a:ext cx="4460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C87B8-E0D5-F9E0-351B-95EA71CE8B2A}"/>
              </a:ext>
            </a:extLst>
          </p:cNvPr>
          <p:cNvSpPr txBox="1"/>
          <p:nvPr/>
        </p:nvSpPr>
        <p:spPr>
          <a:xfrm>
            <a:off x="341639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Model 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YOLOv11m (60 epochs)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No augmentation used.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mAP@50: 0.941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Prec</a:t>
            </a:r>
            <a:r>
              <a:rPr lang="en-US" sz="1600" dirty="0">
                <a:solidFill>
                  <a:schemeClr val="bg1"/>
                </a:solidFill>
              </a:rPr>
              <a:t>/Rec: 0.91 / 0.90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Val Loss: Box 0.57, </a:t>
            </a:r>
            <a:r>
              <a:rPr lang="en-US" sz="1600" dirty="0" err="1">
                <a:solidFill>
                  <a:schemeClr val="bg1"/>
                </a:solidFill>
              </a:rPr>
              <a:t>Cls</a:t>
            </a:r>
            <a:r>
              <a:rPr lang="en-US" sz="1600" dirty="0">
                <a:solidFill>
                  <a:schemeClr val="bg1"/>
                </a:solidFill>
              </a:rPr>
              <a:t> 0.44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AdamW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lr</a:t>
            </a:r>
            <a:r>
              <a:rPr lang="en-US" sz="1600" dirty="0">
                <a:solidFill>
                  <a:schemeClr val="bg1"/>
                </a:solidFill>
              </a:rPr>
              <a:t>=0.000196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953CC-4A3A-7489-B86E-2B8FE41E7671}"/>
              </a:ext>
            </a:extLst>
          </p:cNvPr>
          <p:cNvSpPr txBox="1"/>
          <p:nvPr/>
        </p:nvSpPr>
        <p:spPr>
          <a:xfrm>
            <a:off x="3039707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Model 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YOLOv11m (150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Aug: flip, </a:t>
            </a:r>
            <a:r>
              <a:rPr lang="en-US" sz="1600" dirty="0" err="1">
                <a:solidFill>
                  <a:schemeClr val="bg1"/>
                </a:solidFill>
              </a:rPr>
              <a:t>mixup</a:t>
            </a:r>
            <a:r>
              <a:rPr lang="en-US" sz="1600" dirty="0">
                <a:solidFill>
                  <a:schemeClr val="bg1"/>
                </a:solidFill>
              </a:rPr>
              <a:t>, rotate.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mAP@50: 0.956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Prec</a:t>
            </a:r>
            <a:r>
              <a:rPr lang="en-US" sz="1600" dirty="0">
                <a:solidFill>
                  <a:schemeClr val="bg1"/>
                </a:solidFill>
              </a:rPr>
              <a:t>/Rec: 0.92 / 0.91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Val Loss: Box 0.60, </a:t>
            </a:r>
            <a:r>
              <a:rPr lang="en-US" sz="1600" dirty="0" err="1">
                <a:solidFill>
                  <a:schemeClr val="bg1"/>
                </a:solidFill>
              </a:rPr>
              <a:t>Cls</a:t>
            </a:r>
            <a:r>
              <a:rPr lang="en-US" sz="1600" dirty="0">
                <a:solidFill>
                  <a:schemeClr val="bg1"/>
                </a:solidFill>
              </a:rPr>
              <a:t> 0.46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AdamW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lr</a:t>
            </a:r>
            <a:r>
              <a:rPr lang="en-US" sz="1600" dirty="0">
                <a:solidFill>
                  <a:schemeClr val="bg1"/>
                </a:solidFill>
              </a:rPr>
              <a:t>=0.0002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61D56-20A8-3609-08DB-27E62B464C57}"/>
              </a:ext>
            </a:extLst>
          </p:cNvPr>
          <p:cNvSpPr txBox="1"/>
          <p:nvPr/>
        </p:nvSpPr>
        <p:spPr>
          <a:xfrm>
            <a:off x="6106048" y="2503775"/>
            <a:ext cx="2973977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3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YOLOv11s (300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Light model, heavy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endParaRPr lang="en-US" sz="1600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0.977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0.34 (lowest)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SGD,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F064E-8E2E-5C17-3F1A-9E9B1CC2192F}"/>
              </a:ext>
            </a:extLst>
          </p:cNvPr>
          <p:cNvSpPr txBox="1"/>
          <p:nvPr/>
        </p:nvSpPr>
        <p:spPr>
          <a:xfrm>
            <a:off x="9090073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4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Custom (350 epochs + Aug)Full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r>
              <a:rPr lang="en-US" sz="1600" dirty="0">
                <a:solidFill>
                  <a:srgbClr val="1F392D"/>
                </a:solidFill>
              </a:rPr>
              <a:t> + close mosaic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0.980 (best)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0.29, Box 0.54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=0.0003</a:t>
            </a:r>
          </a:p>
        </p:txBody>
      </p:sp>
    </p:spTree>
    <p:extLst>
      <p:ext uri="{BB962C8B-B14F-4D97-AF65-F5344CB8AC3E}">
        <p14:creationId xmlns:p14="http://schemas.microsoft.com/office/powerpoint/2010/main" val="2260993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67F6C-3C37-5FA6-898D-553FE4E7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C6985B-23F3-B9B5-2805-B93B7554925A}"/>
              </a:ext>
            </a:extLst>
          </p:cNvPr>
          <p:cNvSpPr/>
          <p:nvPr/>
        </p:nvSpPr>
        <p:spPr>
          <a:xfrm>
            <a:off x="8922936" y="2341266"/>
            <a:ext cx="3058049" cy="3687745"/>
          </a:xfrm>
          <a:prstGeom prst="roundRect">
            <a:avLst/>
          </a:prstGeom>
          <a:solidFill>
            <a:srgbClr val="3EC1A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D9777D-004F-D41F-8CD7-E21A855BF0DF}"/>
              </a:ext>
            </a:extLst>
          </p:cNvPr>
          <p:cNvSpPr txBox="1"/>
          <p:nvPr/>
        </p:nvSpPr>
        <p:spPr>
          <a:xfrm>
            <a:off x="579120" y="643347"/>
            <a:ext cx="4460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8D93B-4E46-74CF-155C-D08DAF57FD6B}"/>
              </a:ext>
            </a:extLst>
          </p:cNvPr>
          <p:cNvSpPr txBox="1"/>
          <p:nvPr/>
        </p:nvSpPr>
        <p:spPr>
          <a:xfrm>
            <a:off x="341639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Model 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YOLOv11m (60 epochs)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No augmentation used.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mAP@50: 0.941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Prec</a:t>
            </a:r>
            <a:r>
              <a:rPr lang="en-US" sz="1600" dirty="0">
                <a:solidFill>
                  <a:schemeClr val="bg1"/>
                </a:solidFill>
              </a:rPr>
              <a:t>/Rec: 0.91 / 0.90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Val Loss: Box 0.57, </a:t>
            </a:r>
            <a:r>
              <a:rPr lang="en-US" sz="1600" dirty="0" err="1">
                <a:solidFill>
                  <a:schemeClr val="bg1"/>
                </a:solidFill>
              </a:rPr>
              <a:t>Cls</a:t>
            </a:r>
            <a:r>
              <a:rPr lang="en-US" sz="1600" dirty="0">
                <a:solidFill>
                  <a:schemeClr val="bg1"/>
                </a:solidFill>
              </a:rPr>
              <a:t> 0.44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AdamW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lr</a:t>
            </a:r>
            <a:r>
              <a:rPr lang="en-US" sz="1600" dirty="0">
                <a:solidFill>
                  <a:schemeClr val="bg1"/>
                </a:solidFill>
              </a:rPr>
              <a:t>=0.000196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BD6A1-0CD5-E3D5-0560-4C5C010BCC97}"/>
              </a:ext>
            </a:extLst>
          </p:cNvPr>
          <p:cNvSpPr txBox="1"/>
          <p:nvPr/>
        </p:nvSpPr>
        <p:spPr>
          <a:xfrm>
            <a:off x="3039707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Model 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YOLOv11m (150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Aug: flip, </a:t>
            </a:r>
            <a:r>
              <a:rPr lang="en-US" sz="1600" dirty="0" err="1">
                <a:solidFill>
                  <a:schemeClr val="bg1"/>
                </a:solidFill>
              </a:rPr>
              <a:t>mixup</a:t>
            </a:r>
            <a:r>
              <a:rPr lang="en-US" sz="1600" dirty="0">
                <a:solidFill>
                  <a:schemeClr val="bg1"/>
                </a:solidFill>
              </a:rPr>
              <a:t>, rotate.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mAP@50: 0.956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Prec</a:t>
            </a:r>
            <a:r>
              <a:rPr lang="en-US" sz="1600" dirty="0">
                <a:solidFill>
                  <a:schemeClr val="bg1"/>
                </a:solidFill>
              </a:rPr>
              <a:t>/Rec: 0.92 / 0.91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Val Loss: Box 0.60, </a:t>
            </a:r>
            <a:r>
              <a:rPr lang="en-US" sz="1600" dirty="0" err="1">
                <a:solidFill>
                  <a:schemeClr val="bg1"/>
                </a:solidFill>
              </a:rPr>
              <a:t>Cls</a:t>
            </a:r>
            <a:r>
              <a:rPr lang="en-US" sz="1600" dirty="0">
                <a:solidFill>
                  <a:schemeClr val="bg1"/>
                </a:solidFill>
              </a:rPr>
              <a:t> 0.46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AdamW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lr</a:t>
            </a:r>
            <a:r>
              <a:rPr lang="en-US" sz="1600" dirty="0">
                <a:solidFill>
                  <a:schemeClr val="bg1"/>
                </a:solidFill>
              </a:rPr>
              <a:t>=0.0002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B36A7-F759-46F1-E07A-A47440C3DD9A}"/>
              </a:ext>
            </a:extLst>
          </p:cNvPr>
          <p:cNvSpPr txBox="1"/>
          <p:nvPr/>
        </p:nvSpPr>
        <p:spPr>
          <a:xfrm>
            <a:off x="6106048" y="2503775"/>
            <a:ext cx="2973977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Model 3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YOLOv11s (300 epochs + Aug)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Light model, heavy </a:t>
            </a:r>
            <a:r>
              <a:rPr lang="en-US" sz="1600" dirty="0" err="1">
                <a:solidFill>
                  <a:schemeClr val="bg1"/>
                </a:solidFill>
              </a:rPr>
              <a:t>aug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mAP@50: 0.977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</a:rPr>
              <a:t>Prec</a:t>
            </a:r>
            <a:r>
              <a:rPr lang="en-US" sz="1600" dirty="0">
                <a:solidFill>
                  <a:schemeClr val="bg1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Val Loss: </a:t>
            </a:r>
            <a:r>
              <a:rPr lang="en-US" sz="1600" dirty="0" err="1">
                <a:solidFill>
                  <a:schemeClr val="bg1"/>
                </a:solidFill>
              </a:rPr>
              <a:t>Cls</a:t>
            </a:r>
            <a:r>
              <a:rPr lang="en-US" sz="1600" dirty="0">
                <a:solidFill>
                  <a:schemeClr val="bg1"/>
                </a:solidFill>
              </a:rPr>
              <a:t> 0.34 (lowest)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SGD, </a:t>
            </a:r>
            <a:r>
              <a:rPr lang="en-US" sz="1600" dirty="0" err="1">
                <a:solidFill>
                  <a:schemeClr val="bg1"/>
                </a:solidFill>
              </a:rPr>
              <a:t>lr</a:t>
            </a:r>
            <a:r>
              <a:rPr lang="en-US" sz="1600" dirty="0">
                <a:solidFill>
                  <a:schemeClr val="bg1"/>
                </a:solidFill>
              </a:rPr>
              <a:t>=0.01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E8167-2803-7C97-45F4-FE072D954E15}"/>
              </a:ext>
            </a:extLst>
          </p:cNvPr>
          <p:cNvSpPr txBox="1"/>
          <p:nvPr/>
        </p:nvSpPr>
        <p:spPr>
          <a:xfrm>
            <a:off x="9090073" y="2503775"/>
            <a:ext cx="2921056" cy="303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F392D"/>
                </a:solidFill>
              </a:rPr>
              <a:t>Model 4</a:t>
            </a:r>
          </a:p>
          <a:p>
            <a:endParaRPr lang="en-US" dirty="0">
              <a:solidFill>
                <a:srgbClr val="1F392D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Custom (350 epochs + Aug)Full </a:t>
            </a:r>
            <a:r>
              <a:rPr lang="en-US" sz="1600" dirty="0" err="1">
                <a:solidFill>
                  <a:srgbClr val="1F392D"/>
                </a:solidFill>
              </a:rPr>
              <a:t>aug</a:t>
            </a:r>
            <a:r>
              <a:rPr lang="en-US" sz="1600" dirty="0">
                <a:solidFill>
                  <a:srgbClr val="1F392D"/>
                </a:solidFill>
              </a:rPr>
              <a:t> + close mosaic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mAP@50: 0.980 (best)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Prec</a:t>
            </a:r>
            <a:r>
              <a:rPr lang="en-US" sz="1600" dirty="0">
                <a:solidFill>
                  <a:srgbClr val="1F392D"/>
                </a:solidFill>
              </a:rPr>
              <a:t>/Rec: 0.96 / 0.95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F392D"/>
                </a:solidFill>
              </a:rPr>
              <a:t>Val Loss: </a:t>
            </a:r>
            <a:r>
              <a:rPr lang="en-US" sz="1600" dirty="0" err="1">
                <a:solidFill>
                  <a:srgbClr val="1F392D"/>
                </a:solidFill>
              </a:rPr>
              <a:t>Cls</a:t>
            </a:r>
            <a:r>
              <a:rPr lang="en-US" sz="1600" dirty="0">
                <a:solidFill>
                  <a:srgbClr val="1F392D"/>
                </a:solidFill>
              </a:rPr>
              <a:t> 0.29, Box 0.54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1F392D"/>
                </a:solidFill>
              </a:rPr>
              <a:t>AdamW</a:t>
            </a:r>
            <a:r>
              <a:rPr lang="en-US" sz="1600" dirty="0">
                <a:solidFill>
                  <a:srgbClr val="1F392D"/>
                </a:solidFill>
              </a:rPr>
              <a:t>, </a:t>
            </a:r>
            <a:r>
              <a:rPr lang="en-US" sz="1600" dirty="0" err="1">
                <a:solidFill>
                  <a:srgbClr val="1F392D"/>
                </a:solidFill>
              </a:rPr>
              <a:t>lr</a:t>
            </a:r>
            <a:r>
              <a:rPr lang="en-US" sz="1600" dirty="0">
                <a:solidFill>
                  <a:srgbClr val="1F392D"/>
                </a:solidFill>
              </a:rPr>
              <a:t>=0.0003</a:t>
            </a:r>
          </a:p>
        </p:txBody>
      </p:sp>
    </p:spTree>
    <p:extLst>
      <p:ext uri="{BB962C8B-B14F-4D97-AF65-F5344CB8AC3E}">
        <p14:creationId xmlns:p14="http://schemas.microsoft.com/office/powerpoint/2010/main" val="2325693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7C6246-8E9D-4080-A203-337F39B3DC33}"/>
              </a:ext>
            </a:extLst>
          </p:cNvPr>
          <p:cNvSpPr txBox="1"/>
          <p:nvPr/>
        </p:nvSpPr>
        <p:spPr>
          <a:xfrm>
            <a:off x="1549120" y="422030"/>
            <a:ext cx="909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Here is some model predictions against the validation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6CAF87-D8FB-2CF3-FABD-2917DABBB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38" y="1465385"/>
            <a:ext cx="4970585" cy="4970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DD327D-79C9-BCC3-E8C9-4A81D4241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777" y="1465385"/>
            <a:ext cx="4970585" cy="497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0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94541-4C93-F6A7-B2B3-39090E36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BCCEE1-491B-261C-508A-72A4F2D1BC52}"/>
              </a:ext>
            </a:extLst>
          </p:cNvPr>
          <p:cNvSpPr txBox="1"/>
          <p:nvPr/>
        </p:nvSpPr>
        <p:spPr>
          <a:xfrm>
            <a:off x="1549120" y="422030"/>
            <a:ext cx="909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Here is some model predictions against the validation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7DD31-8B57-E083-2E97-ED95250CF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8" y="1325546"/>
            <a:ext cx="5215931" cy="52159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FEE58-AC8D-F9D4-1295-77B44BBC9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02" y="1325546"/>
            <a:ext cx="5215931" cy="52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4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6CDCA-C378-8AB5-4FB4-C03451D6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D2B21-E908-43D0-5EE8-1439A1225DCF}"/>
              </a:ext>
            </a:extLst>
          </p:cNvPr>
          <p:cNvSpPr txBox="1"/>
          <p:nvPr/>
        </p:nvSpPr>
        <p:spPr>
          <a:xfrm>
            <a:off x="1549120" y="422030"/>
            <a:ext cx="909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Here is some model predictions against the validation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37AC8-9C49-57A2-B656-7C5B2D3EE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64" y="1476271"/>
            <a:ext cx="4959699" cy="4959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80560D-2C2C-04DA-87BC-34B8F85D6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083" y="1476271"/>
            <a:ext cx="4959699" cy="495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1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B3517-264A-E8B8-CB55-ADD9393A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A5D7B-579A-484E-42C1-BABD8FD29FB8}"/>
              </a:ext>
            </a:extLst>
          </p:cNvPr>
          <p:cNvSpPr txBox="1"/>
          <p:nvPr/>
        </p:nvSpPr>
        <p:spPr>
          <a:xfrm>
            <a:off x="1549120" y="422030"/>
            <a:ext cx="909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Here is some model predictions against the validation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097C1-5103-92D5-CC60-E8981B3D3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92" y="1295401"/>
            <a:ext cx="5020826" cy="5020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F66558-D8BB-FF49-16A0-5D5960C50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909" y="1295401"/>
            <a:ext cx="5020826" cy="502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B9DCC-45EB-FE28-18DE-F0B0E750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78621-6412-65AB-2D77-8DF7E0D58710}"/>
              </a:ext>
            </a:extLst>
          </p:cNvPr>
          <p:cNvSpPr txBox="1"/>
          <p:nvPr/>
        </p:nvSpPr>
        <p:spPr>
          <a:xfrm>
            <a:off x="1549120" y="422030"/>
            <a:ext cx="909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Here is some model predictions against the validation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A56F8-1DD1-23CB-6349-BB2DD39F9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2" y="1385833"/>
            <a:ext cx="4799763" cy="4799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A47F8F-3D6C-2CA0-93A5-57C829C29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795" y="1385834"/>
            <a:ext cx="4799763" cy="479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BBAE4-B328-06D5-9AED-C9B4BA457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7B79877-A772-94DF-3B00-118A73784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03974"/>
            <a:ext cx="14623516" cy="97619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ABD92E-6B65-D56E-D560-195557131C28}"/>
              </a:ext>
            </a:extLst>
          </p:cNvPr>
          <p:cNvSpPr txBox="1"/>
          <p:nvPr/>
        </p:nvSpPr>
        <p:spPr>
          <a:xfrm>
            <a:off x="122259" y="854108"/>
            <a:ext cx="93148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and Enhancements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Prescription Parsing</a:t>
            </a:r>
            <a:br>
              <a:rPr lang="en-US" dirty="0"/>
            </a:br>
            <a:r>
              <a:rPr lang="en-US" dirty="0"/>
              <a:t>Train a vision-language model to extract drug names from handwritten prescriptions.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Stock Check Assistant</a:t>
            </a:r>
            <a:br>
              <a:rPr lang="en-US" dirty="0"/>
            </a:br>
            <a:r>
              <a:rPr lang="en-US" dirty="0"/>
              <a:t>Add camera-based guidance to help workers check for the inventory quantity match the database.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Offline Mode for App</a:t>
            </a:r>
            <a:br>
              <a:rPr lang="en-US" dirty="0"/>
            </a:br>
            <a:r>
              <a:rPr lang="en-US" dirty="0"/>
              <a:t>Enable offline sales logging that syncs automatically when internet returns.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Advanced Analytics Dashboard</a:t>
            </a:r>
            <a:br>
              <a:rPr lang="en-US" dirty="0"/>
            </a:br>
            <a:r>
              <a:rPr lang="en-US" dirty="0"/>
              <a:t>Include drug movement patterns, seasonal demand, and loss analysis for business optimization.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Collect more data and include more drugs</a:t>
            </a:r>
            <a:br>
              <a:rPr lang="en-US" dirty="0"/>
            </a:br>
            <a:r>
              <a:rPr lang="en-US" dirty="0"/>
              <a:t>increasing the dataset will increase the accuracy and the reliability of the scanning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3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C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3E548-28BC-9047-B97C-FECCE020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6421F4-2689-2E42-3765-11A4D1194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6142"/>
            <a:ext cx="12185009" cy="8134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A8E50B-3C02-76A6-349B-8EA4FA001514}"/>
              </a:ext>
            </a:extLst>
          </p:cNvPr>
          <p:cNvSpPr txBox="1"/>
          <p:nvPr/>
        </p:nvSpPr>
        <p:spPr>
          <a:xfrm>
            <a:off x="267955" y="823963"/>
            <a:ext cx="8400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Time!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appreciate your attention and interest.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AEC64-C7AF-C21D-8021-FF0C7AA18FEB}"/>
              </a:ext>
            </a:extLst>
          </p:cNvPr>
          <p:cNvSpPr txBox="1"/>
          <p:nvPr/>
        </p:nvSpPr>
        <p:spPr>
          <a:xfrm>
            <a:off x="267955" y="3323498"/>
            <a:ext cx="84004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We're happy to answer any questions you may have.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AFE4C7-5246-EFA8-11C4-51433FE934EF}"/>
              </a:ext>
            </a:extLst>
          </p:cNvPr>
          <p:cNvSpPr txBox="1"/>
          <p:nvPr/>
        </p:nvSpPr>
        <p:spPr>
          <a:xfrm>
            <a:off x="3163471" y="6380750"/>
            <a:ext cx="3252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Higher Technological Institute | May 2025</a:t>
            </a:r>
          </a:p>
        </p:txBody>
      </p:sp>
    </p:spTree>
    <p:extLst>
      <p:ext uri="{BB962C8B-B14F-4D97-AF65-F5344CB8AC3E}">
        <p14:creationId xmlns:p14="http://schemas.microsoft.com/office/powerpoint/2010/main" val="264186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3088</Words>
  <Application>Microsoft Office PowerPoint</Application>
  <PresentationFormat>Widescreen</PresentationFormat>
  <Paragraphs>649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42020285</dc:creator>
  <cp:lastModifiedBy>42020285</cp:lastModifiedBy>
  <cp:revision>14</cp:revision>
  <dcterms:created xsi:type="dcterms:W3CDTF">2025-05-11T11:38:25Z</dcterms:created>
  <dcterms:modified xsi:type="dcterms:W3CDTF">2025-05-13T07:33:08Z</dcterms:modified>
</cp:coreProperties>
</file>